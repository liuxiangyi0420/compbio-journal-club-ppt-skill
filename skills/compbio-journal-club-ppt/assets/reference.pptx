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1cbfa2f9df4a8e" /><Relationship Type="http://schemas.openxmlformats.org/officeDocument/2006/relationships/extended-properties" Target="/docProps/app.xml" Id="R92cce8a1a7e04b23" /><Relationship Type="http://schemas.openxmlformats.org/officeDocument/2006/relationships/officeDocument" Target="/ppt/presentation.xml" Id="Rf71ba772545e42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4d25c4ceed4fc7"/>
  </p:sldMasterIdLst>
  <p:notesMasterIdLst>
    <p:notesMasterId xmlns:r="http://schemas.openxmlformats.org/officeDocument/2006/relationships" r:id="Rf214bb639aef4291"/>
  </p:notesMasterIdLst>
  <p:sldIdLst>
    <p:sldId xmlns:r="http://schemas.openxmlformats.org/officeDocument/2006/relationships" id="256" r:id="Rad76c94089924d11"/>
    <p:sldId xmlns:r="http://schemas.openxmlformats.org/officeDocument/2006/relationships" id="257" r:id="R2de98fb21c814b6d"/>
    <p:sldId xmlns:r="http://schemas.openxmlformats.org/officeDocument/2006/relationships" id="258" r:id="R632f5e4b12914bcd"/>
    <p:sldId xmlns:r="http://schemas.openxmlformats.org/officeDocument/2006/relationships" id="259" r:id="R9cf740c366d84f6d"/>
    <p:sldId xmlns:r="http://schemas.openxmlformats.org/officeDocument/2006/relationships" id="260" r:id="Rc5ee498a0e2d4d1c"/>
    <p:sldId xmlns:r="http://schemas.openxmlformats.org/officeDocument/2006/relationships" id="261" r:id="Rf7eeaf1b1df440e2"/>
    <p:sldId xmlns:r="http://schemas.openxmlformats.org/officeDocument/2006/relationships" id="262" r:id="Rbc0bc7cb95ad421d"/>
    <p:sldId xmlns:r="http://schemas.openxmlformats.org/officeDocument/2006/relationships" id="263" r:id="R2b91fbc0c8fb4564"/>
    <p:sldId xmlns:r="http://schemas.openxmlformats.org/officeDocument/2006/relationships" id="264" r:id="Rbb1deae637a347e5"/>
    <p:sldId xmlns:r="http://schemas.openxmlformats.org/officeDocument/2006/relationships" id="265" r:id="R8ebd0d829c79420b"/>
    <p:sldId xmlns:r="http://schemas.openxmlformats.org/officeDocument/2006/relationships" id="266" r:id="R653f35e4ff224475"/>
    <p:sldId xmlns:r="http://schemas.openxmlformats.org/officeDocument/2006/relationships" id="267" r:id="Rde5c972c678c4809"/>
    <p:sldId xmlns:r="http://schemas.openxmlformats.org/officeDocument/2006/relationships" id="268" r:id="Rfe279ea3f72d4ca2"/>
    <p:sldId xmlns:r="http://schemas.openxmlformats.org/officeDocument/2006/relationships" id="269" r:id="Rc1f6aa20c49e4f25"/>
    <p:sldId xmlns:r="http://schemas.openxmlformats.org/officeDocument/2006/relationships" id="270" r:id="R9e2b0131ecc14efd"/>
    <p:sldId xmlns:r="http://schemas.openxmlformats.org/officeDocument/2006/relationships" id="271" r:id="R3de1b2cbb7b7425e"/>
    <p:sldId xmlns:r="http://schemas.openxmlformats.org/officeDocument/2006/relationships" id="272" r:id="Rbc150d1f54c0475c"/>
    <p:sldId xmlns:r="http://schemas.openxmlformats.org/officeDocument/2006/relationships" id="273" r:id="Ra7dda00f961e4c71"/>
    <p:sldId xmlns:r="http://schemas.openxmlformats.org/officeDocument/2006/relationships" id="274" r:id="Rd546d1250f4e446e"/>
    <p:sldId xmlns:r="http://schemas.openxmlformats.org/officeDocument/2006/relationships" id="275" r:id="R2badbe017c4f40dd"/>
    <p:sldId xmlns:r="http://schemas.openxmlformats.org/officeDocument/2006/relationships" id="276" r:id="Rba0cbae2f3604619"/>
    <p:sldId xmlns:r="http://schemas.openxmlformats.org/officeDocument/2006/relationships" id="277" r:id="Rce1adedc558f423e"/>
    <p:sldId xmlns:r="http://schemas.openxmlformats.org/officeDocument/2006/relationships" id="278" r:id="R9684b632cda34b03"/>
    <p:sldId xmlns:r="http://schemas.openxmlformats.org/officeDocument/2006/relationships" id="279" r:id="R17261d03e68c4adc"/>
    <p:sldId xmlns:r="http://schemas.openxmlformats.org/officeDocument/2006/relationships" id="280" r:id="Rd7d1b68aa7c74bd3"/>
    <p:sldId xmlns:r="http://schemas.openxmlformats.org/officeDocument/2006/relationships" id="281" r:id="R338c2353141e4bea"/>
    <p:sldId xmlns:r="http://schemas.openxmlformats.org/officeDocument/2006/relationships" id="282" r:id="R81262547d682464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feeb7b0597417a" /><Relationship Type="http://schemas.openxmlformats.org/officeDocument/2006/relationships/slideMaster" Target="/ppt/slideMasters/slideMaster1.xml" Id="R024d25c4ceed4fc7" /><Relationship Type="http://schemas.openxmlformats.org/officeDocument/2006/relationships/notesMaster" Target="/ppt/notesMasters/notesMaster1.xml" Id="Rf214bb639aef4291" /><Relationship Type="http://schemas.openxmlformats.org/officeDocument/2006/relationships/presProps" Target="/ppt/presProps.xml" Id="R5b562f546e6b4185" /><Relationship Type="http://schemas.openxmlformats.org/officeDocument/2006/relationships/tableStyles" Target="/ppt/tableStyles.xml" Id="Rf1a8b98dc304420e" /><Relationship Type="http://schemas.openxmlformats.org/officeDocument/2006/relationships/slide" Target="/ppt/slides/slide1.xml" Id="Rad76c94089924d11" /><Relationship Type="http://schemas.openxmlformats.org/officeDocument/2006/relationships/slide" Target="/ppt/slides/slide2.xml" Id="R2de98fb21c814b6d" /><Relationship Type="http://schemas.openxmlformats.org/officeDocument/2006/relationships/slide" Target="/ppt/slides/slide3.xml" Id="R632f5e4b12914bcd" /><Relationship Type="http://schemas.openxmlformats.org/officeDocument/2006/relationships/slide" Target="/ppt/slides/slide4.xml" Id="R9cf740c366d84f6d" /><Relationship Type="http://schemas.openxmlformats.org/officeDocument/2006/relationships/slide" Target="/ppt/slides/slide5.xml" Id="Rc5ee498a0e2d4d1c" /><Relationship Type="http://schemas.openxmlformats.org/officeDocument/2006/relationships/slide" Target="/ppt/slides/slide6.xml" Id="Rf7eeaf1b1df440e2" /><Relationship Type="http://schemas.openxmlformats.org/officeDocument/2006/relationships/slide" Target="/ppt/slides/slide7.xml" Id="Rbc0bc7cb95ad421d" /><Relationship Type="http://schemas.openxmlformats.org/officeDocument/2006/relationships/slide" Target="/ppt/slides/slide8.xml" Id="R2b91fbc0c8fb4564" /><Relationship Type="http://schemas.openxmlformats.org/officeDocument/2006/relationships/slide" Target="/ppt/slides/slide9.xml" Id="Rbb1deae637a347e5" /><Relationship Type="http://schemas.openxmlformats.org/officeDocument/2006/relationships/slide" Target="/ppt/slides/slide10.xml" Id="R8ebd0d829c79420b" /><Relationship Type="http://schemas.openxmlformats.org/officeDocument/2006/relationships/slide" Target="/ppt/slides/slide11.xml" Id="R653f35e4ff224475" /><Relationship Type="http://schemas.openxmlformats.org/officeDocument/2006/relationships/slide" Target="/ppt/slides/slide12.xml" Id="Rde5c972c678c4809" /><Relationship Type="http://schemas.openxmlformats.org/officeDocument/2006/relationships/slide" Target="/ppt/slides/slide13.xml" Id="Rfe279ea3f72d4ca2" /><Relationship Type="http://schemas.openxmlformats.org/officeDocument/2006/relationships/slide" Target="/ppt/slides/slide14.xml" Id="Rc1f6aa20c49e4f25" /><Relationship Type="http://schemas.openxmlformats.org/officeDocument/2006/relationships/slide" Target="/ppt/slides/slide15.xml" Id="R9e2b0131ecc14efd" /><Relationship Type="http://schemas.openxmlformats.org/officeDocument/2006/relationships/slide" Target="/ppt/slides/slide16.xml" Id="R3de1b2cbb7b7425e" /><Relationship Type="http://schemas.openxmlformats.org/officeDocument/2006/relationships/slide" Target="/ppt/slides/slide17.xml" Id="Rbc150d1f54c0475c" /><Relationship Type="http://schemas.openxmlformats.org/officeDocument/2006/relationships/slide" Target="/ppt/slides/slide18.xml" Id="Ra7dda00f961e4c71" /><Relationship Type="http://schemas.openxmlformats.org/officeDocument/2006/relationships/slide" Target="/ppt/slides/slide19.xml" Id="Rd546d1250f4e446e" /><Relationship Type="http://schemas.openxmlformats.org/officeDocument/2006/relationships/slide" Target="/ppt/slides/slide20.xml" Id="R2badbe017c4f40dd" /><Relationship Type="http://schemas.openxmlformats.org/officeDocument/2006/relationships/slide" Target="/ppt/slides/slide21.xml" Id="Rba0cbae2f3604619" /><Relationship Type="http://schemas.openxmlformats.org/officeDocument/2006/relationships/slide" Target="/ppt/slides/slide22.xml" Id="Rce1adedc558f423e" /><Relationship Type="http://schemas.openxmlformats.org/officeDocument/2006/relationships/slide" Target="/ppt/slides/slide23.xml" Id="R9684b632cda34b03" /><Relationship Type="http://schemas.openxmlformats.org/officeDocument/2006/relationships/slide" Target="/ppt/slides/slide24.xml" Id="R17261d03e68c4adc" /><Relationship Type="http://schemas.openxmlformats.org/officeDocument/2006/relationships/slide" Target="/ppt/slides/slide25.xml" Id="Rd7d1b68aa7c74bd3" /><Relationship Type="http://schemas.openxmlformats.org/officeDocument/2006/relationships/slide" Target="/ppt/slides/slide26.xml" Id="R338c2353141e4bea" /><Relationship Type="http://schemas.openxmlformats.org/officeDocument/2006/relationships/slide" Target="/ppt/slides/slide27.xml" Id="R81262547d68246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e9615ee2f442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e45b39adae4f4c" /><Relationship Type="http://schemas.openxmlformats.org/officeDocument/2006/relationships/notesMaster" Target="/ppt/notesMasters/notesMaster1.xml" Id="R2d709f9f19f749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c1c726a4ee4168" /><Relationship Type="http://schemas.openxmlformats.org/officeDocument/2006/relationships/notesMaster" Target="/ppt/notesMasters/notesMaster1.xml" Id="Re6823fac233446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f49488f2164b73" /><Relationship Type="http://schemas.openxmlformats.org/officeDocument/2006/relationships/notesMaster" Target="/ppt/notesMasters/notesMaster1.xml" Id="R4f5a08b049e744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d3c263222934eae" /><Relationship Type="http://schemas.openxmlformats.org/officeDocument/2006/relationships/notesMaster" Target="/ppt/notesMasters/notesMaster1.xml" Id="R2a7ff52ff6954b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e60c4b2ddf4360" /><Relationship Type="http://schemas.openxmlformats.org/officeDocument/2006/relationships/notesMaster" Target="/ppt/notesMasters/notesMaster1.xml" Id="R5fd284a114564f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944563e274a41e7" /><Relationship Type="http://schemas.openxmlformats.org/officeDocument/2006/relationships/notesMaster" Target="/ppt/notesMasters/notesMaster1.xml" Id="Rbb727a3989584de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2f65795e0ca40a8" /><Relationship Type="http://schemas.openxmlformats.org/officeDocument/2006/relationships/notesMaster" Target="/ppt/notesMasters/notesMaster1.xml" Id="R10d53290aa024ca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d6079be2f645f2" /><Relationship Type="http://schemas.openxmlformats.org/officeDocument/2006/relationships/notesMaster" Target="/ppt/notesMasters/notesMaster1.xml" Id="Rd290b0a1515242d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abee1c1c7724655" /><Relationship Type="http://schemas.openxmlformats.org/officeDocument/2006/relationships/notesMaster" Target="/ppt/notesMasters/notesMaster1.xml" Id="R90ab622d53e2493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e27cdf714fc49c4" /><Relationship Type="http://schemas.openxmlformats.org/officeDocument/2006/relationships/notesMaster" Target="/ppt/notesMasters/notesMaster1.xml" Id="R1a28fa4e1940478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9f9ad9cf9b94b30" /><Relationship Type="http://schemas.openxmlformats.org/officeDocument/2006/relationships/notesMaster" Target="/ppt/notesMasters/notesMaster1.xml" Id="R60fcf2c267b3499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bf0cd5836cc4ddf" /><Relationship Type="http://schemas.openxmlformats.org/officeDocument/2006/relationships/notesMaster" Target="/ppt/notesMasters/notesMaster1.xml" Id="Ra02cf7a92b6c462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c730ac6393a441b" /><Relationship Type="http://schemas.openxmlformats.org/officeDocument/2006/relationships/notesMaster" Target="/ppt/notesMasters/notesMaster1.xml" Id="Rbb489d7277bb459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a13d32e8e71419e" /><Relationship Type="http://schemas.openxmlformats.org/officeDocument/2006/relationships/notesMaster" Target="/ppt/notesMasters/notesMaster1.xml" Id="R33286a1e39834bd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870441c2133441f" /><Relationship Type="http://schemas.openxmlformats.org/officeDocument/2006/relationships/notesMaster" Target="/ppt/notesMasters/notesMaster1.xml" Id="R248bb02f45064d1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b7607cc569d40c4" /><Relationship Type="http://schemas.openxmlformats.org/officeDocument/2006/relationships/notesMaster" Target="/ppt/notesMasters/notesMaster1.xml" Id="R9fd96a08fc57423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67d2ab17b004972" /><Relationship Type="http://schemas.openxmlformats.org/officeDocument/2006/relationships/notesMaster" Target="/ppt/notesMasters/notesMaster1.xml" Id="R949d0f78267c4df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46e4b69c0ad4cd5" /><Relationship Type="http://schemas.openxmlformats.org/officeDocument/2006/relationships/notesMaster" Target="/ppt/notesMasters/notesMaster1.xml" Id="R7b804c026e334dd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ec688aea2b84a61" /><Relationship Type="http://schemas.openxmlformats.org/officeDocument/2006/relationships/notesMaster" Target="/ppt/notesMasters/notesMaster1.xml" Id="R3053c225eaff414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6ec7f9e58374d6e" /><Relationship Type="http://schemas.openxmlformats.org/officeDocument/2006/relationships/notesMaster" Target="/ppt/notesMasters/notesMaster1.xml" Id="R8b232a57402146d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650119e1acd4eef" /><Relationship Type="http://schemas.openxmlformats.org/officeDocument/2006/relationships/notesMaster" Target="/ppt/notesMasters/notesMaster1.xml" Id="R43af8289c6f9434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5e610c395444c51" /><Relationship Type="http://schemas.openxmlformats.org/officeDocument/2006/relationships/notesMaster" Target="/ppt/notesMasters/notesMaster1.xml" Id="R1b3b992cd9e549e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d1aeb11144d4651" /><Relationship Type="http://schemas.openxmlformats.org/officeDocument/2006/relationships/notesMaster" Target="/ppt/notesMasters/notesMaster1.xml" Id="Raf68797008bf44d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569f184111945ca" /><Relationship Type="http://schemas.openxmlformats.org/officeDocument/2006/relationships/notesMaster" Target="/ppt/notesMasters/notesMaster1.xml" Id="R683f1ebfa7134ce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debca5b4f8f4c44" /><Relationship Type="http://schemas.openxmlformats.org/officeDocument/2006/relationships/notesMaster" Target="/ppt/notesMasters/notesMaster1.xml" Id="R147c4fd225b8473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9f8786a7d764228" /><Relationship Type="http://schemas.openxmlformats.org/officeDocument/2006/relationships/notesMaster" Target="/ppt/notesMasters/notesMaster1.xml" Id="R712ab4f865d740f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04fa351c20049c2" /><Relationship Type="http://schemas.openxmlformats.org/officeDocument/2006/relationships/notesMaster" Target="/ppt/notesMasters/notesMaster1.xml" Id="R5f3c16629ef245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>
                <a:latin typeface="Microsoft YaHei"/>
                <a:ea typeface="Microsoft YaHei"/>
                <a:cs typeface="Microsoft YaHei"/>
              </a:rPr>
              <a:t>主讲页 1｜NISE 用两个模型反复设计小分子结合蛋白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这篇文章想解决的是：怎样用计算方法设计一个真正能结合小分子的蛋白？作者把两个已有不同任务的模型接起来。LASErMPNN 根据蛋白骨架和配体坐标设计序列；结构预测模型根据序列和配体身份预测蛋白–配体复合物。把预测得到的结构送回序列模型，再设计下一批序列，这就是 NISE。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今天按这个问题一步步讲：先看序列模型有没有学到合理的结合位点，再看反复设计能不能改善口袋，最后看设计出的蛋白是否真的结合、结构是否符合预期，以及有没有实际功能。这个顺序是根据正文和补充材料整理的讲解顺序，不能当作作者真实的实验时间线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来源：Fry et al., Nature (2026), doi:10.1038/s41586-026-10670-w。主文 s41586-026-10670-w.pdf 与补充材料 41586_2026_10670_MOESM1_ESM.pdf。Fry, Slaw &amp; Polizzi. Nature 656, 237–249 (2026).；补充材料方法与对应图表。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>
                <a:latin typeface="Microsoft YaHei"/>
                <a:ea typeface="Microsoft YaHei"/>
                <a:cs typeface="Microsoft YaHei"/>
              </a:rPr>
              <a:t>主讲页 2｜初始对接姿态不理想，设计出的序列也可能不理想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先看这张图的传统流程。作者先生成四螺旋骨架，用 COMBS 把 Exatecan 放进去，再用 Rosetta 设计剩余序列。这样做有一个问题：序列是围绕初始骨架和配体位置设计的，如果起始姿态本来就不理想，得到的序列也很难最优。正文因此提出，需要一起优化 sequence、backbone 和 ligand conformation。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这里不要把传统方法说成完全固定骨架，因为图中的 Rosetta 已经允许骨架变化。NISE 的区别是，它反复使用序列模型和复合物预测模型，让整个序列、口袋和配体姿态都能继续改变。接下来先看其中负责设计序列的模型。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来源：Fry et al., Nature (2026), doi:10.1038/s41586-026-10670-w。主文 s41586-026-10670-w.pdf 与补充材料 41586_2026_10670_MOESM1_ESM.pdf。整理自正文 NISE sampling algorithm；Fig. 3b；补充材料方法与对应图表。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>
                <a:latin typeface="Microsoft YaHei"/>
                <a:ea typeface="Microsoft YaHei"/>
                <a:cs typeface="Microsoft YaHei"/>
              </a:rPr>
              <a:t>主讲页 3｜作者先测试模型，再验证设计蛋白的结合、结构和功能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这页先给大家一张地图。第一步是明确问题：只在初始姿态上设计序列不够。第二步先测试 LASErMPNN，看它能不能恢复合理的结合位点。第三步才把它和结构预测模型接起来，用 NISE 反复设计。第四步表达筛选出的蛋白，直接测结合。第五步继续做点突变、晶体结构和药物水解实验，解释为什么结合以及结合后有什么用。最后换成另一个药物和骨架，检查方法能否推广，也比较替换模型后的结果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这个顺序是为了把文章讲清楚。作者的模型训练、参数调整和设计实验可能交错进行；Exatecan 的药物保护目标也是一开始就有的，并不是看到结合后才想到。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来源：Fry et al., Nature (2026), doi:10.1038/s41586-026-10670-w。主文 s41586-026-10670-w.pdf 与补充材料 41586_2026_10670_MOESM1_ESM.pdf。主文与补充材料综合整理；流程为研究决策逻辑重构。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>
                <a:latin typeface="Microsoft YaHei"/>
                <a:ea typeface="Microsoft YaHei"/>
                <a:cs typeface="Microsoft YaHei"/>
              </a:rPr>
              <a:t>主讲页 4｜LASErMPNN 根据骨架和配体，同时设计序列与侧链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读 Fig. 2a 时抓住输入和输出就够了。输入是蛋白骨架坐标和配体原子坐标，输出是每个位置的氨基酸种类，以及这个氨基酸的侧链二面角。模型逐个设计残基；每设计完一个残基，后面的预测就能利用它的氨基酸身份和侧链位置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作者强调了两个特点。第一，配体有单独的 encoder，先用大量分子预训练，让它学习原子性质，例如部分电荷。第二，氨基酸和侧链一起设计；LigandMPNN 则在整条序列设计完之后再放置侧链。训练中还用了伪配体等数据增广，这些细节今天不展开。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这一步只产生候选序列和侧链坐标，并没有证明蛋白一定折叠，也没有证明一定结合。下一页先看作者怎样测试模型。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来源：Fry et al., Nature (2026), doi:10.1038/s41586-026-10670-w。主文 s41586-026-10670-w.pdf 与补充材料 41586_2026_10670_MOESM1_ESM.pdf。Fig. 2a；正文 LASErMPNN neural network；补充材料方法与对应图表。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>
                <a:latin typeface="Microsoft YaHei"/>
                <a:ea typeface="Microsoft YaHei"/>
                <a:cs typeface="Microsoft YaHei"/>
              </a:rPr>
              <a:t>主讲页 5｜加入配体信息后，结合位点恢复率从 54% 提高到 61%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sequence recovery 指设计出的氨基酸与天然序列一致的比例。这里比较的是结合位点，不是整条序列。图中每个点代表一个测试复合物：横轴都是 LASErMPNN 的恢复率，纵轴分别是 protein-only 和重训练的 LigandMPNN。点在对角线下面，说明 LASErMPNN 对这个复合物恢复得更好。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平均值分别是 61%、54% 和 57%。所以配体确实提供了额外信息，但没有配体的模型也能达到较高恢复率。这不奇怪，因为骨架和口袋形状已经限制了哪些氨基酸比较合适。这是对结果的一种解释，不是图中单独验证的机制。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还要区分：protein-only 是没有配体信息、另行训练的对照，不是推理时临时关掉同一个模型的 ligand embedding。序列恢复率也不等于亲和力，因此后面还要做结合实验。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来源：Fry et al., Nature (2026), doi:10.1038/s41586-026-10670-w。主文 s41586-026-10670-w.pdf 与补充材料 41586_2026_10670_MOESM1_ESM.pdf。Fig. 2b；正文 LASErMPNN neural network；补充材料方法与对应图表。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>
                <a:latin typeface="Microsoft YaHei"/>
                <a:ea typeface="Microsoft YaHei"/>
                <a:cs typeface="Microsoft YaHei"/>
              </a:rPr>
              <a:t>主讲页 6｜未参与训练的链霉亲和素，最高结合位点恢复率为 94%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普通测试集表现好，还可能是因为模型见过相似蛋白。作者因此做了更严格的测试：把链霉亲和素的相关序列、结构和进化家族从训练数据中排除，再给模型它的已知骨架和 biotin 坐标。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左图看天然序列的概率，洋红色表示模型认为这个天然氨基酸很合理。右图是生成的 10,000 条序列中，结合位点恢复率最高的一条：94% 的残基与天然序列一致，绿色表示一致，红色表示两个不同的残基。用 Boltz-1 检查 self-consistency 后，再按 BUNs 排序，这条序列排在前 25 名。BUNs 指埋藏后没有形成氢键的极性原子，后面会解释为什么要少。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这说明模型能设计合理的结合位点，但输入仍是已知骨架和配体姿态，也没有在这里测新序列的结合。平均恢复率是有 biotin 53%、无 biotin 38%；without biotin 指去掉配体信息，骨架仍来自同一复合物。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来源：Fry et al., Nature (2026), doi:10.1038/s41586-026-10670-w。主文 s41586-026-10670-w.pdf 与补充材料 41586_2026_10670_MOESM1_ESM.pdf。Fig.2c,d；Supplementary Figs.3–6；Benchmarking LASErMPNN with Streptavidin–Biotin complex。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>
                <a:latin typeface="Microsoft YaHei"/>
                <a:ea typeface="Microsoft YaHei"/>
                <a:cs typeface="Microsoft YaHei"/>
              </a:rPr>
              <a:t>主讲页 7｜Exatecan 设计从四螺旋骨架和对接后的配体开始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Exatecan 是抗癌药。它的内酯环容易在生理 pH 下水解，开环后活性下降。作者想设计一个蛋白，把这个容易水解的环包起来，减少它与溶剂接触。这个功能目标也决定了起始对接的要求：内酯环要埋在口袋里，带电的胺基可以朝向溶剂。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骨架来自一个包含 40 个四螺旋蛋白的计算库；这些骨架经过 ProteinMPNN 和 AF2 检查，很多不同序列都能形成预期结构。配体用相关化合物的晶体结构生成两个构象，再用 COMBS 对接。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作者从传统设计中按计算指标选出一个起点，去掉它的序列，只保留骨架和配体坐标用于 NISE。选起点时还没有实验结果。这个起点后来显示聚集，因此不能说作者是先看到它失败，才决定开发 NISE。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来源：Fry et al., Nature (2026), doi:10.1038/s41586-026-10670-w。主文 s41586-026-10670-w.pdf 与补充材料 41586_2026_10670_MOESM1_ESM.pdf。Fig. 3a,c；正文 Design of exatecan binders using NISE；补充材料方法与对应图表。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>
                <a:latin typeface="Microsoft YaHei"/>
                <a:ea typeface="Microsoft YaHei"/>
                <a:cs typeface="Microsoft YaHei"/>
              </a:rPr>
              <a:t>主讲页 8｜NISE 反复设计序列、预测复合物，再选出下一轮输入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这一页是全文最重要的流程。先给 LASErMPNN 一个骨架和配体坐标，让它生成很多序列，这是 expansion。再把每条序列和配体身份交给复合物预测模型。在 Exatecan 任务中，这个模型是 RFAA。它预测蛋白形成什么结构，以及配体会放在哪里。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接下来做 selection。先检查 self-consistency：预测结构是不是接近这一轮的输入结构？既要看骨架，也要看配体。骨架和配体 RMSD 越低，说明越接近预期。通过这一步后，再选 ligand pLDDT 高的结构。pLDDT 表示模型对局部结构的信心，不是亲和力。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选出的新骨架和配体坐标成为下一轮输入，所以口袋可以逐渐变化。Exatecan 任务保留初始输入和历史最好的结构，每个输入扩增 1,000 条序列。整个过程中模型权重不变，改变的是序列和坐标。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来源：Fry et al., Nature (2026), doi:10.1038/s41586-026-10670-w。主文 s41586-026-10670-w.pdf 与补充材料 41586_2026_10670_MOESM1_ESM.pdf。Fig. 1b；补充材料方法与对应图表。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>
                <a:latin typeface="Microsoft YaHei"/>
                <a:ea typeface="Microsoft YaHei"/>
                <a:cs typeface="Microsoft YaHei"/>
              </a:rPr>
              <a:t>主讲页 9｜迭代后，更多设计能预测出预期的配体姿态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先看左图。绿色是初始输入，灰色是 NISE 得到的设计。靠近配体的一段 3₁₀ 螺旋变成常规螺旋，两条螺旋间原本较宽的间隙缩小，Exatecan 被拉得更深入口袋。这说明 NISE 确实改变了骨架和结合位点，不只是反复给同一个骨架换序列。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右图横轴是骨架 Cα RMSD，纵轴是 ligand RMSD。左下角表示两者都接近预期。第 35 轮比第 0 轮有更多设计落在左下角，因此 protein–ligand self-consistency 提高。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作者还发现，许多序列的骨架已经预测得很好，配体却朝向不对。只用骨架 self-consistency 会放过这些设计。这里每条预测与产生它的当轮输入比较，并不是所有轮次都只对初始骨架计算 RMSD。后期仍继续采样，是为了找到更少 BUNs、能够通过最终筛选的设计。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来源：Fry et al., Nature (2026), doi:10.1038/s41586-026-10670-w。主文 s41586-026-10670-w.pdf 与补充材料 41586_2026_10670_MOESM1_ESM.pdf。Fig. 3d,e；正文 Design of exatecan binders using NISE；补充材料方法与对应图表。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>
                <a:latin typeface="Microsoft YaHei"/>
                <a:ea typeface="Microsoft YaHei"/>
                <a:cs typeface="Microsoft YaHei"/>
              </a:rPr>
              <a:t>主讲页 10｜NISE 提高 ligand pLDDT，并降低 sequence NLL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要判断改善是不是“反复做几轮”就能得到，作者设置了 energy-based ISE 对照。两组都使用 LASErMPNN 设计序列。左边用 RFAA 预测结构，再按 ligand pLDDT 选择；右边把结构预测替换为 Rosetta 能量最小化，再按较低的配体能量选择。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读图只看两条线。红色是 ligand pLDDT，越高表示模型越有信心；蓝色是 sequence NLL，即 negative log-likelihood，越低表示 LASErMPNN 认为这条序列越合理。左边两项同时改善，右边没有出现同样的改善。图注因此说，NISE 同时优化了 ligand confidence 和 protein sequence quality。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这是计算指标的比较，还不是两组的亲和力实验。对照同时改变了结构调整方法和选择依据，不能仅凭这张图把差异归结到某一个步骤。最终筛选中作者仍然使用能量最小化和其他物理检查。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来源：Fry et al., Nature (2026), doi:10.1038/s41586-026-10670-w。主文 s41586-026-10670-w.pdf 与补充材料 41586_2026_10670_MOESM1_ESM.pdf。Fig. 1c；正文 Design of exatecan binders using NISE；补充材料方法与对应图表。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>
                <a:latin typeface="Microsoft YaHei"/>
                <a:ea typeface="Microsoft YaHei"/>
                <a:cs typeface="Microsoft YaHei"/>
              </a:rPr>
              <a:t>主讲页 11｜高 pLDDT 还不够，实验前还要检查口袋和寡聚状态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模型很有信心，并不保证蛋白在溶液里就能稳定结合。作者因此把多轮设计汇总起来，再做最终筛选。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第一类检查是结构本身：预测是不是接近输入，能量最小化后有没有明显变化。第二类是 BUNs，全称 buried unsatisfied polar atoms。极性原子如果被埋进蛋白内部，却没有合适的氢键，会付出不利的能量代价，所以希望尽量少。第三类是去掉配体，重新排侧链，再把配体放回。如果这时出现严重冲突，说明没有配体时口袋可能被侧链堵住。最后还预测双拷贝蛋白，检查域交换等问题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这一步很关键：后面的 4/4 和 5/6 是完整筛选后送实验的设计的成功率。不能把它理解成只运行 NISE 就能得到同样的成功率。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来源：Fry et al., Nature (2026), doi:10.1038/s41586-026-10670-w。主文 s41586-026-10670-w.pdf 与补充材料 41586_2026_10670_MOESM1_ESM.pdf。Supplementary Figs.11–12、31–32；Design Filtering and Ranking。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>
                <a:latin typeface="Microsoft YaHei"/>
                <a:ea typeface="Microsoft YaHei"/>
                <a:cs typeface="Microsoft YaHei"/>
              </a:rPr>
              <a:t>主讲页 12｜4 个 Exatecan 设计都能结合，EPIC 的 Kd 为 120 nM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现在从计算进入实验。作者表达了最终选出的 4 个 NISE 设计，SEC 显示它们是单体。Exatecan 自带荧光，所以可以直接用荧光各向异性测结合，不需要给药物接荧光标签。蛋白浓度增加后，药物被结合的比例增加，拟合曲线可以得到 Kd。Kd 越小，亲和力越强。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4 个设计都能结合，Kd 从 0.12 到约 17 µM。最好的叫 EPIC，Kd 为 120 nM。传统 COMBS–Rosetta 的 16 个设计中有 3 个单体 binder，最佳约 8 µM，因此 EPIC 结合强约 70 倍。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右侧比较其他配体：EPIC 对 Exatecan 的亲和力最高，对 FL118、Belotecan、Camptothecin 依次减弱。对 Irinotecan 没有明显结合，对测试的 Apixaban 和 Dexamethasone 荧光衍生物也没有明显结合。作者没有特意做 negative design，仍得到了较好的选择性。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来源：Fry et al., Nature (2026), doi:10.1038/s41586-026-10670-w。主文 s41586-026-10670-w.pdf 与补充材料 41586_2026_10670_MOESM1_ESM.pdf。Fig. 3f,g；正文 Characterization of exatecan binders；补充材料方法与对应图表。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>
                <a:latin typeface="Microsoft YaHei"/>
                <a:ea typeface="Microsoft YaHei"/>
                <a:cs typeface="Microsoft YaHei"/>
              </a:rPr>
              <a:t>主讲页 13｜两个点突变将 EPIC 的亲和力提高了 100 倍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获得 EPIC 后，作者问：能否只靠计算，再把亲和力提高？他们没有重新设计几千条完整序列，而是用 LASErMPNN 做 neural proofreading。具体做法是固定其余氨基酸，只重新计算一个结合位点位置应该选什么残基。这样评估这个位置时，模型能看到完整的其余序列。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Fig. 4b 展示两个例子：51 位的 Q 改成 N，97 位的 M 改成 L。它们与配体直接接触，而且模型给新残基的概率更高。输入结构来自 RFAA 预测并经过 Amber 能量最小化，并不是晶体结构。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右图是实验：两个单突变分别把 Kd 降到 8.0 和 7.4 nM；合并后为 1.2 nM，比原 EPIC 的 120 nM 提高 100 倍。作者还测了模型预测会变差的 G104M，Kd 变为 57 µM，结合确实减弱。但这不代表模型建议的任何高概率突变都一定有效，作者还结合了局部相互作用来挑选。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来源：Fry et al., Nature (2026), doi:10.1038/s41586-026-10670-w。主文 s41586-026-10670-w.pdf 与补充材料 41586_2026_10670_MOESM1_ESM.pdf。Fig. 4b,c；正文 Neural proofreading of the EPIC sequence；补充材料方法与对应图表。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>
                <a:latin typeface="Microsoft YaHei"/>
                <a:ea typeface="Microsoft YaHei"/>
                <a:cs typeface="Microsoft YaHei"/>
              </a:rPr>
              <a:t>主讲页 14｜晶体结构接近设计，并解释了 Q51N 的作用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结合实验能说明蛋白抓住了药物，但还不能说明它是按设计的方式抓住的。作者因此解析 EPIC 和 EPIC(Q51N) 的晶体结构，分辨率分别为 2.0 和 2.2 Å。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左图叠合设计模型与晶体结构。EPIC 的骨架与直接用于设计它的输入骨架接近，Cα RMSD 为 0.8 Å，整体配体结合方式也符合预期。不过内酯环附近有偏差，RFAA 对这里的配体键角预测不够准确。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中间的电子密度支持配体和侧链位置。右图解释 Q51N：原来的 Gln 侧链较长，受空间限制，不能同时形成两条氢键。换成较短的 Asn 后，Exatecan 更深入口袋约 0.5 Å，Asn 与羟基和内酯羰基形成双齿氢键。晶体因此既验证了设计，也帮助解释亲和力提高。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来源：Fry et al., Nature (2026), doi:10.1038/s41586-026-10670-w。主文 s41586-026-10670-w.pdf 与补充材料 41586_2026_10670_MOESM1_ESM.pdf。Fig. 4d–f；正文 Crystal structures of EPIC and EPIC(Q51N)；补充材料方法与对应图表。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>
                <a:latin typeface="Microsoft YaHei"/>
                <a:ea typeface="Microsoft YaHei"/>
                <a:cs typeface="Microsoft YaHei"/>
              </a:rPr>
              <a:t>主讲页 15｜EPIC 双突变体能保护 Exatecan 的内酯环约 50 小时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现在回到最初的功能目标。Exatecan 的内酯环开环后，吸收光谱会变化，所以作者用吸收随时间的变化追踪水解。四组分别是药物单独存在、加 HSA、加 EPIC，以及加 EPIC(Q51N/M97L)。实验在室温、PBS、pH 7.4 下进行；药物为 20 µM，EPIC 系列也为 20 µM，HSA 为 500 µM。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药物单独存在时，几小时内出现明显变化；HSA 虽然能结合药物，却不能保护内酯环。EPIC 减少水解，双突变体的保护最强，约 50 小时都没有明显光谱演变。作者解释是蛋白把内酯环埋起来，减少与溶剂接触。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文中的“超过 99% 保持闭环”还结合了动力学拟合和热力学分析。直接从这张图最容易看懂的结论是：双突变体显著抑制药物水解。这里验证的是体外溶液中的保护，并没有做体内药物递送实验。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来源：Fry et al., Nature (2026), doi:10.1038/s41586-026-10670-w。主文 s41586-026-10670-w.pdf 与补充材料 41586_2026_10670_MOESM1_ESM.pdf。Fig. 5e；机制整理自 Fig. 5c 与正文；补充材料方法与对应图表。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>
                <a:latin typeface="Microsoft YaHei"/>
                <a:ea typeface="Microsoft YaHei"/>
                <a:cs typeface="Microsoft YaHei"/>
              </a:rPr>
              <a:t>主讲页 16｜Apixaban 设计使用 NTF2 骨架和 Boltz-2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第一个任务用的是四螺旋蛋白和 Exatecan。为了检验方法是否只适用于这一种情况，作者换成混合 α/β 的 NTF2 折叠，目标药物也换成 Apixaban。复合物预测模型从 RFAA 换成 Boltz-2。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这张补充图展示完整流程。作者先从已有 NTF2 骨架中，用重新设计和 Boltz-2 预测选出 50 个骨架代表。将两个 Apixaban 构象刚体对接到这些骨架中，得到 10,000 个姿态。经过序列设计和两轮结构预测筛选，选出 6 个起点，再分别运行 14–28 轮 NISE。这里选结构的分数同时用了 ligand pLDDT 和 Boltz-2 的 P(bind)。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最后还做 Rosetta/BUNs 筛选，以及 AF2-Multimer 和 RF3 的单体、双拷贝检查，最终选出 6 条序列送实验。图里的“6 个起点”与“6 个实验设计”不是一一对应：中间有轨迹被淘汰，也有轨迹产生多个设计。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来源：Fry et al., Nature (2026), doi:10.1038/s41586-026-10670-w。主文 s41586-026-10670-w.pdf 与补充材料 41586_2026_10670_MOESM1_ESM.pdf。Supplementary Fig.31–32；Supplementary Text, Design of Apixaban-Binding Proteins。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>
                <a:latin typeface="Microsoft YaHei"/>
                <a:ea typeface="Microsoft YaHei"/>
                <a:cs typeface="Microsoft YaHei"/>
              </a:rPr>
              <a:t>主讲页 17｜6 个 Apixaban 设计中有 5 个结合，APEX 的 Kd 为 80 pM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最终 6 个设计中有 5 个能结合 Apixaban，最好的一条叫 APEX。这里要先分清两个测量对象。左图测的是带 FITC 荧光标签的 Apixaban：增加 APEX 后，探针被结合的比例升高，得到 Kd 为 990 pM。对照中 APEX 对 Exatecan 没有明显结合。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右图测未标记的原药。固定 APEX 和荧光探针，再增加未标记 Apixaban，它会与探针竞争，使被结合的荧光探针减少。作者对三个探针浓度的直接结合与竞争曲线联合拟合，得到原药 Kd 为 80 pM，95% 置信区间为 54–122 pM。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这说明换药物和折叠后，NISE 仍能得到高亲和力 binder。补充表里 5 个 binder 的原药 Kd 为 80 pM 到 54 nM，因此这里采用补充表数值，不写成全部低于 50 nM。APEX 在本文没有晶体结构。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来源：Fry et al., Nature (2026), doi:10.1038/s41586-026-10670-w。主文 s41586-026-10670-w.pdf 与补充材料 41586_2026_10670_MOESM1_ESM.pdf。Fig. 6c,e,f；正文 Design of apixaban binders using NISE；补充材料方法与对应图表。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>
                <a:latin typeface="Microsoft YaHei"/>
                <a:ea typeface="Microsoft YaHei"/>
                <a:cs typeface="Microsoft YaHei"/>
              </a:rPr>
              <a:t>主讲页 18｜换成 LigandMPNN 后，NISE 的计算指标也能改善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文章同时提出了 LASErMPNN 和 NISE，容易让人觉得两者必须绑定。作者在补充材料中用同一个 APEX 起点，把序列模型换成 LigandMPNN，结构预测仍用 Boltz-2。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左右两组都能看到类似趋势：Boltz-2 score 提高，各自的 sequence NLL 降低。这说明反复设计和选择的流程并不只适用于 LASErMPNN。这里的 LigandMPNN 是公开权重，与 Fig. 2b 中重训练的对照版本不同。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不能直接拿左右两图的 NLL 数值比较模型高低，因为它们的计算定义不同。这组比较也没有把两组设计都送去实验测亲和力，因此只能说计算指标都能改善。其他补充分析发现 LigandMPNN 设计更容易出现侧链过度堆积，这可能与侧链设计方式有关，作者把它作为解释提出，还不能当作已证明的原因。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来源：Fry et al., Nature (2026), doi:10.1038/s41586-026-10670-w。主文 s41586-026-10670-w.pdf 与补充材料 41586_2026_10670_MOESM1_ESM.pdf。Supplementary Figs. 37–40；Supplementary Tables 7、9。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>
                <a:latin typeface="Microsoft YaHei"/>
                <a:ea typeface="Microsoft YaHei"/>
                <a:cs typeface="Microsoft YaHei"/>
              </a:rPr>
              <a:t>主讲页 19｜用 RFAA 筛选，会错过这 5 个 Apixaban binder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这一页直接回答“这套方法是不是依赖结构预测模型”。作者已经通过 Boltz-2 选出了 Apixaban 设计，并测到其中 5 个能结合。之后再用 RFAA 预测这 6 个设计，看看能否复现原来的设计姿态。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增加到 35 或 100 recycles 后，多数蛋白骨架可以接近 Boltz-2 模型，但配体方向仍明显不同，配体重原子 RMSD 很大。如果最初用 RFAA 的 self-consistency 条件筛选，这 5 个实际能结合的设计也会被淘汰。正文因此强调，在这个任务中使用 Boltz-2 很重要。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还要看清参考结构：这里比较的是 RFAA 与 Boltz-2 设计模型，APEX 没有晶体结构。它说明 RFAA 会使这些 binder 错失实验机会，但不能仅凭这张图证明 Boltz-2 预测的每个原子位置都准确。图中第 6 个候选不结合，也不要说成 6 个都是 binder。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来源：Fry et al., Nature (2026), doi:10.1038/s41586-026-10670-w。主文 s41586-026-10670-w.pdf 与补充材料 41586_2026_10670_MOESM1_ESM.pdf。Supplementary Fig.36；Supplementary Text, Prediction of Apixaban-Binding Proteins with RFAA。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>
                <a:latin typeface="Microsoft YaHei"/>
                <a:ea typeface="Microsoft YaHei"/>
                <a:cs typeface="Microsoft YaHei"/>
              </a:rPr>
              <a:t>主讲页 20｜好的起点、NISE 迭代和最终筛选，共同促成设计成功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最后把全文连起来。作者的做法是：先找到可设计的骨架和合理的配体位置，再让序列设计模型和复合物预测模型反复配合。每一轮用预测结果选择下一轮的输入，逐渐得到更合适的序列、骨架和配体姿态。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Exatecan 的 4 个设计全部结合，EPIC 经两个点突变后亲和力提高 100 倍，晶体结构接近设计，还能保护药物免于水解。换成 NTF2 和 Apixaban 后，6 个设计中 5 个结合，APEX 达到 80 pM。这些实验是文章最有说服力的部分。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讨论时可以保留两个问题：如果计算预算相同，一次性生成大量序列能否达到类似结果？在更多药物和蛋白折叠上，成功率还能否保持？作者已展示方法可行，但每个步骤各自贡献多少，还需要更多对照来回答。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来源：Fry et al., Nature (2026), doi:10.1038/s41586-026-10670-w。主文 s41586-026-10670-w.pdf 与补充材料 41586_2026_10670_MOESM1_ESM.pdf。正文 Discussion；Fig. 1c；作者引用 Supplementary Figs. 37–40；补充材料方法与对应图表。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>
                <a:latin typeface="Microsoft YaHei"/>
                <a:ea typeface="Microsoft YaHei"/>
                <a:cs typeface="Microsoft YaHei"/>
              </a:rPr>
              <a:t>备用页 21｜self-consistency、pLDDT 和 Kd 衡量的是不同事情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这几个词最容易混在一起。self-consistency 问的是：设计序列预测出来的结构，是否接近我们希望它形成的结构？本文既看蛋白骨架，也看配体。RMSD 越低，说明两组坐标越接近。计算 ligand RMSD 时，先对齐蛋白，再看配体位置；不能把配体单独对齐，否则会丢掉结合姿态的信息。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pLDDT 问的是模型对局部结构有多大信心，不需要我们另外提供实验参考结构。LDDT 则是两套结构之间的局部距离比较。foldability 是序列能否形成目标折叠；作者用 AF2 预测结构与目标的 Cα-LDDT 等指标来评估它，并不是说 LDDT 和 foldability 是同一个概念。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真正的结合强度要看实验 Kd。P(bind) 和 BUNs 分别补充预测结合概率和口袋相互作用的信息。不同设计阶段允许不同的 RMSD 阈值，不要用一个数字代表整个流程。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来源：Fry et al., Nature (2026), doi:10.1038/s41586-026-10670-w。主文 s41586-026-10670-w.pdf 与补充材料 41586_2026_10670_MOESM1_ESM.pdf。正文 NISE sampling algorithm、Design of apixaban binders、Discussion；补充材料方法与对应图表。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>
                <a:latin typeface="Microsoft YaHei"/>
                <a:ea typeface="Microsoft YaHei"/>
                <a:cs typeface="Microsoft YaHei"/>
              </a:rPr>
              <a:t>备用页 22｜两个模型交替设计，更新的是序列和结构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第一个式子 P(seq | struct, lig) 可以直接读成：给定骨架和配体构象，什么序列比较合理？这是序列设计模型的任务。第二个式子 P(struct, lig | seq) 可以读成：给定序列和配体身份，蛋白和配体会形成怎样的复合物？这是结构预测模型的任务。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作者把这种交替设计类比为 iterative coordinate ascent：两边轮流优化，逐渐找到联合分布中概率更高的区域。Fig. 1d 用这幅图解释为什么序列和结构会一起变得更合适。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实际运行时，作者没有直接算一个统一的联合概率来排序，而是用 self-consistency 筛选，再用 pLDDT 或 Boltz-2 score 选择。这也是为什么这里保留论文的概率解释，但不能说算法严格优化了一个可以直接计算的联合概率。模型参数没有在循环里重新训练。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来源：Fry et al., Nature (2026), doi:10.1038/s41586-026-10670-w。主文 s41586-026-10670-w.pdf 与补充材料 41586_2026_10670_MOESM1_ESM.pdf。Fig. 1d；正文 NISE sampling algorithm；补充材料方法与对应图表。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>
                <a:latin typeface="Microsoft YaHei"/>
                <a:ea typeface="Microsoft YaHei"/>
                <a:cs typeface="Microsoft YaHei"/>
              </a:rPr>
              <a:t>备用页 23｜4/4 和 5/6 指送去实验的设计，不是全部计算样本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本文说 Exatecan 成功率 100%、Apixaban 成功率 83%，对应的是筛选后送实验的 4 个和 6 个设计。前面已经生成并淘汰了大量计算候选，因此不能把这些比例当成所有生成序列的成功率。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再看 Kd：APEX 的 990 pM 是对荧光标记配体，80 pM 是对未标记药物。后者由多探针浓度的直接结合和竞争曲线联合拟合得到，95% 置信区间为 54–122 pM。其他候选有些区间较宽，不能仅按很接近的点估计就断言谁一定更强。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传统设计的 3/16 是原始测试集合，后面追加的同姿态 CR5、CR6 不在这个分母里。汇报时把这些测量对象和分母讲清楚，比只念成功率更重要。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来源：Fry et al., Nature (2026), doi:10.1038/s41586-026-10670-w。主文 s41586-026-10670-w.pdf 与补充材料 41586_2026_10670_MOESM1_ESM.pdf。Fig. 3f、Fig. 6e,f；正文实验表征部分；补充材料方法与对应图表。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>
                <a:latin typeface="Microsoft YaHei"/>
                <a:ea typeface="Microsoft YaHei"/>
                <a:cs typeface="Microsoft YaHei"/>
              </a:rPr>
              <a:t>备用页 24｜14 轮 NISE 约需 5 小时，主要时间用于结构预测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作者给出了 LASErMPNN 和 NISE 的代码，CARPdock 用于生成初始刚体对接姿态。正文报告，使用 LASErMPNN 和 Boltz-2，一条 14 轮的 NISE 轨迹在 4 张 A6000 上约需 5 小时，大部分计算用于复合物预测。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这不是整个项目的总耗时。还需要准备骨架和配体构象、初始对接、筛选起点，以及 NISE 之后的能量最小化、BUNs 和寡聚状态检查。不同任务也用了不同模型版本和权重，复现时需要记录清楚。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对我们最实用的建议是：先拿少量已知或候选复合物，检查预测器能否处理这个药物和折叠。Apixaban 的 RFAA 结果说明，预测器如果不能给出合理配体姿态，单纯增加迭代和算力可能也没有用。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来源：Fry et al., Nature (2026), doi:10.1038/s41586-026-10670-w。主文 s41586-026-10670-w.pdf 与补充材料 41586_2026_10670_MOESM1_ESM.pdf。正文 Code availability、Discussion；补充材料方法与对应图表。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>
                <a:latin typeface="Microsoft YaHei"/>
                <a:ea typeface="Microsoft YaHei"/>
                <a:cs typeface="Microsoft YaHei"/>
              </a:rPr>
              <a:t>备用页 25｜亲和力最强的 EPIC，ligand pLDDT 并不是最高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这张表帮助解释为什么不能只取最高 pLDDT。NISE3 的 ligand pLDDT 比 EPIC 更高，单独配体的 BUNs 也更少，但实验亲和力最强的是 EPIC。EPIC 在这张表中的总 BUNs 分数最低，说明还需要看蛋白和配体的整个相互作用网络。只有 4 个样本，不能据此建立通用的定量关系。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这里采用补充 Table 5 的列标和数值。需要提醒一个原文细节：Table 5 的 EPIC ligand pLDDT 写为 0.911，而谱系 Table 2 把 0.911 记为蛋白、0.896 记为配体，两处对应不一致。不同表的 BUNs 还可能来自不同阶段的坐标，因此只在同一张表内比较；正式复现时需要核对分析代码。这个不一致不改变这页主要结论：最高预测置信度不等于最强实验结合。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来源：Fry et al., Nature (2026), doi:10.1038/s41586-026-10670-w。主文 s41586-026-10670-w.pdf 与补充材料 41586_2026_10670_MOESM1_ESM.pdf。Supplementary Table 5、8；Design Filtering and Ranking。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>
                <a:latin typeface="Microsoft YaHei"/>
                <a:ea typeface="Microsoft YaHei"/>
                <a:cs typeface="Microsoft YaHei"/>
              </a:rPr>
              <a:t>备用页 26｜相同初始配体姿态下，NISE 设计的亲和力更高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看到 NISE 的亲和力更高，还可以提出一个问题：是不是只是起始姿态选得好？作者因此比较相同初始配体姿态下的传统设计。CR3 是单体 binder，Kd 约 8 µM。后来追加的 CR5 和 CR6 也结合，但 Kd 约 15 和 43 µM。NISE 得到的 EPIC 为 0.12 µM，仍明显更强。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正文据此认为，改善来自 joint sequence–structure–ligand optimization，而不是 pose selection alone。也就是除了选到合理姿态，继续修改序列和口袋确实有帮助。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这里的“相同姿态”指起点；NISE 后续会调整结构和配体位置。CR4 是起点模型，后来显示聚集，不能可靠拟合单一位点结合。这个对照减少了“全靠起点选择”的解释，但没有把 NISE 的每一个步骤分别拆开检验。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来源：Fry et al., Nature (2026), doi:10.1038/s41586-026-10670-w。主文 s41586-026-10670-w.pdf 与补充材料 41586_2026_10670_MOESM1_ESM.pdf。Supplementary Fig.15、Table1；Selection of Additional Pair of COMBS Designs。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>
                <a:latin typeface="Microsoft YaHei"/>
                <a:ea typeface="Microsoft YaHei"/>
                <a:cs typeface="Microsoft YaHei"/>
              </a:rPr>
              <a:t>备用页 27｜已知高亲和力 PiB，在筛选后的设计中排名第 4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在真正做新药物任务前，作者还用一个已知 de novo binder 检查排序方法。PiB 是结合 Rucaparib 的四螺旋蛋白。作者保留骨架和配体坐标，用 LASErMPNN 生成 1,000 条新序列，再把 PiB 原序列加入同一个比较集合。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RFAA 预测复合物后，先检查骨架和配体 self-consistency，再检查 pLDDT，以及去掉配体后的侧链是否会与配体冲突。最终 211 个候选按埋藏后没有氢键的极性原子数量排序，PiB 原序列排在第 4。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已知高亲和力序列能排在前面，使作者更有信心用这个规则筛选新设计。但这里没有测生成的 1,000 条新序列的亲和力，所以它验证的是筛选和排序，而不是新的 binder 实验。</a:t>
            </a:r>
            <a:br>
              <a:rPr sz="1200">
                <a:latin typeface="Microsoft YaHei"/>
                <a:ea typeface="Microsoft YaHei"/>
                <a:cs typeface="Microsoft YaHei"/>
              </a:rPr>
            </a:br>
            <a:br>
              <a:rPr sz="1200">
                <a:latin typeface="Microsoft YaHei"/>
                <a:ea typeface="Microsoft YaHei"/>
                <a:cs typeface="Microsoft YaHei"/>
              </a:rPr>
            </a:br>
            <a:r>
              <a:rPr sz="1200">
                <a:latin typeface="Microsoft YaHei"/>
                <a:ea typeface="Microsoft YaHei"/>
                <a:cs typeface="Microsoft YaHei"/>
              </a:rPr>
              <a:t>来源：Fry et al., Nature (2026), doi:10.1038/s41586-026-10670-w。主文 s41586-026-10670-w.pdf 与补充材料 41586_2026_10670_MOESM1_ESM.pdf。Fig.2d；Supplementary Fig.6；Testing ranking protocol using rucaparib-PiB complex。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cba52c259243c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a184cc3d3849e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7935a02c394ee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187f95d123495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79a0009cdf4ce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4850e7d04544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250E7E8-C92A-453C-8E36-1360E0F0FB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8254933-CFFA-4A81-AAC5-12E995D703B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EFB7292-22DD-435B-80FA-9947CCE7BC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8F9DBAF-11F5-47C2-97DB-412E79A138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F7B27B9-6794-47F0-80CF-B0C303E90B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E03006F-5FBA-49B6-99E3-E6BEEBC175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0BA0B69-7E19-41C8-8DF1-ACC1A1F540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7749F1A-D63F-4957-B890-FF45C2CBBD9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6AA6B05-E379-43D0-8D6A-4E67A7DA20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85349F0-DFC1-4AF6-8DBC-7689F7883D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e4571af2ea4f36" /><Relationship Type="http://schemas.openxmlformats.org/officeDocument/2006/relationships/slideLayout" Target="/ppt/slideLayouts/slideLayout1.xml" Id="Rf1a4256cfea6454e" /><Relationship Type="http://schemas.openxmlformats.org/officeDocument/2006/relationships/slideLayout" Target="/ppt/slideLayouts/slideLayout2.xml" Id="R2d483c8ed4fc49c5" /><Relationship Type="http://schemas.openxmlformats.org/officeDocument/2006/relationships/slideLayout" Target="/ppt/slideLayouts/slideLayout3.xml" Id="Re66a2d0da36a4e58" /><Relationship Type="http://schemas.openxmlformats.org/officeDocument/2006/relationships/slideLayout" Target="/ppt/slideLayouts/slideLayout4.xml" Id="R7e5ad8decc3946f4" /><Relationship Type="http://schemas.openxmlformats.org/officeDocument/2006/relationships/slideLayout" Target="/ppt/slideLayouts/slideLayout5.xml" Id="R0f4dad6db9664d29" /><Relationship Type="http://schemas.openxmlformats.org/officeDocument/2006/relationships/slideLayout" Target="/ppt/slideLayouts/slideLayout6.xml" Id="Rfd174a7609e748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a4256cfea6454e"/>
    <p:sldLayoutId xmlns:r="http://schemas.openxmlformats.org/officeDocument/2006/relationships" id="2147483650" r:id="R2d483c8ed4fc49c5"/>
    <p:sldLayoutId xmlns:r="http://schemas.openxmlformats.org/officeDocument/2006/relationships" id="2147483651" r:id="Re66a2d0da36a4e58"/>
    <p:sldLayoutId xmlns:r="http://schemas.openxmlformats.org/officeDocument/2006/relationships" id="2147483652" r:id="R7e5ad8decc3946f4"/>
    <p:sldLayoutId xmlns:r="http://schemas.openxmlformats.org/officeDocument/2006/relationships" id="2147483653" r:id="R0f4dad6db9664d29"/>
    <p:sldLayoutId xmlns:r="http://schemas.openxmlformats.org/officeDocument/2006/relationships" id="2147483654" r:id="Rfd174a7609e748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b8d228dac348b7" /><Relationship Type="http://schemas.openxmlformats.org/officeDocument/2006/relationships/notesSlide" Target="/ppt/notesSlides/notesSlide1.xml" Id="R40603c0dd50a46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70f16d361145f2" /><Relationship Type="http://schemas.openxmlformats.org/officeDocument/2006/relationships/image" Target="/ppt/media/image.png" Id="R1da69a9923484445" /><Relationship Type="http://schemas.openxmlformats.org/officeDocument/2006/relationships/notesSlide" Target="/ppt/notesSlides/notesSlide2.xml" Id="R17b1cd2feca5474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87a2c501054300" /><Relationship Type="http://schemas.openxmlformats.org/officeDocument/2006/relationships/notesSlide" Target="/ppt/notesSlides/notesSlide3.xml" Id="Rb0bf6f8c068f4d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a11a09c4424476" /><Relationship Type="http://schemas.openxmlformats.org/officeDocument/2006/relationships/image" Target="/ppt/media/image2.png" Id="R43327c9618424e77" /><Relationship Type="http://schemas.openxmlformats.org/officeDocument/2006/relationships/notesSlide" Target="/ppt/notesSlides/notesSlide4.xml" Id="Rb9932e988de342f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3b7819cf464017" /><Relationship Type="http://schemas.openxmlformats.org/officeDocument/2006/relationships/image" Target="/ppt/media/image3.png" Id="R5f3703b03cea4ebb" /><Relationship Type="http://schemas.openxmlformats.org/officeDocument/2006/relationships/notesSlide" Target="/ppt/notesSlides/notesSlide5.xml" Id="R127df45f639945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f1335e891746c7" /><Relationship Type="http://schemas.openxmlformats.org/officeDocument/2006/relationships/image" Target="/ppt/media/image4.png" Id="Rf6c20e30a10e455d" /><Relationship Type="http://schemas.openxmlformats.org/officeDocument/2006/relationships/notesSlide" Target="/ppt/notesSlides/notesSlide6.xml" Id="R40cecb770cff46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a42c6880774f3e" /><Relationship Type="http://schemas.openxmlformats.org/officeDocument/2006/relationships/image" Target="/ppt/media/image5.png" Id="Ref0bb6ca157848e3" /><Relationship Type="http://schemas.openxmlformats.org/officeDocument/2006/relationships/image" Target="/ppt/media/image6.png" Id="R0f1ccdd0eaaf4dd8" /><Relationship Type="http://schemas.openxmlformats.org/officeDocument/2006/relationships/notesSlide" Target="/ppt/notesSlides/notesSlide7.xml" Id="Rb7c1f5da3e5742a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f22b4e177e4cae" /><Relationship Type="http://schemas.openxmlformats.org/officeDocument/2006/relationships/image" Target="/ppt/media/image7.png" Id="R1a3a49a3856f4418" /><Relationship Type="http://schemas.openxmlformats.org/officeDocument/2006/relationships/notesSlide" Target="/ppt/notesSlides/notesSlide8.xml" Id="R5384dd30889c4f8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bfe7ec12a643e2" /><Relationship Type="http://schemas.openxmlformats.org/officeDocument/2006/relationships/image" Target="/ppt/media/image8.png" Id="R17e15a65f5f0469e" /><Relationship Type="http://schemas.openxmlformats.org/officeDocument/2006/relationships/image" Target="/ppt/media/image9.png" Id="R193526cb26454d34" /><Relationship Type="http://schemas.openxmlformats.org/officeDocument/2006/relationships/notesSlide" Target="/ppt/notesSlides/notesSlide9.xml" Id="R6f1c5744f53743b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ad340d75954792" /><Relationship Type="http://schemas.openxmlformats.org/officeDocument/2006/relationships/image" Target="/ppt/media/image10.png" Id="R467898b873d54100" /><Relationship Type="http://schemas.openxmlformats.org/officeDocument/2006/relationships/notesSlide" Target="/ppt/notesSlides/notesSlide10.xml" Id="Raab1d2b31a5e451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178018427d4975" /><Relationship Type="http://schemas.openxmlformats.org/officeDocument/2006/relationships/notesSlide" Target="/ppt/notesSlides/notesSlide11.xml" Id="R8cf34f3bc9bc49c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5509aaa6ce4e04" /><Relationship Type="http://schemas.openxmlformats.org/officeDocument/2006/relationships/image" Target="/ppt/media/image11.png" Id="R8d9e59ff0fa24a38" /><Relationship Type="http://schemas.openxmlformats.org/officeDocument/2006/relationships/notesSlide" Target="/ppt/notesSlides/notesSlide12.xml" Id="R3343844582d24c6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d873765ef8405e" /><Relationship Type="http://schemas.openxmlformats.org/officeDocument/2006/relationships/image" Target="/ppt/media/image12.png" Id="R3c8f914bb1df4912" /><Relationship Type="http://schemas.openxmlformats.org/officeDocument/2006/relationships/image" Target="/ppt/media/image13.png" Id="R2d13bc18d19a4f55" /><Relationship Type="http://schemas.openxmlformats.org/officeDocument/2006/relationships/notesSlide" Target="/ppt/notesSlides/notesSlide13.xml" Id="R376e5e26654147f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11fc70c67e4e70" /><Relationship Type="http://schemas.openxmlformats.org/officeDocument/2006/relationships/image" Target="/ppt/media/image14.png" Id="R5004afe047194bd3" /><Relationship Type="http://schemas.openxmlformats.org/officeDocument/2006/relationships/notesSlide" Target="/ppt/notesSlides/notesSlide14.xml" Id="R4571aca713404ae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35a65592af4d8f" /><Relationship Type="http://schemas.openxmlformats.org/officeDocument/2006/relationships/image" Target="/ppt/media/image15.png" Id="Rb21bb2cf9c2d4dfc" /><Relationship Type="http://schemas.openxmlformats.org/officeDocument/2006/relationships/notesSlide" Target="/ppt/notesSlides/notesSlide15.xml" Id="R8db852299e0043e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ccfb764589453c" /><Relationship Type="http://schemas.openxmlformats.org/officeDocument/2006/relationships/image" Target="/ppt/media/image16.png" Id="R16153180e4454421" /><Relationship Type="http://schemas.openxmlformats.org/officeDocument/2006/relationships/notesSlide" Target="/ppt/notesSlides/notesSlide16.xml" Id="R33a3d21ba6a34da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4cc2e37a5a4633" /><Relationship Type="http://schemas.openxmlformats.org/officeDocument/2006/relationships/image" Target="/ppt/media/image17.png" Id="Rf31f45c919c94235" /><Relationship Type="http://schemas.openxmlformats.org/officeDocument/2006/relationships/image" Target="/ppt/media/image18.png" Id="R706c56aae0234120" /><Relationship Type="http://schemas.openxmlformats.org/officeDocument/2006/relationships/notesSlide" Target="/ppt/notesSlides/notesSlide17.xml" Id="R0b2b3d3a92be463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9c16bdd2e14e2f" /><Relationship Type="http://schemas.openxmlformats.org/officeDocument/2006/relationships/image" Target="/ppt/media/image19.png" Id="R4fbdda84fb234e6b" /><Relationship Type="http://schemas.openxmlformats.org/officeDocument/2006/relationships/image" Target="/ppt/media/image20.png" Id="R9e187a30548b49b1" /><Relationship Type="http://schemas.openxmlformats.org/officeDocument/2006/relationships/notesSlide" Target="/ppt/notesSlides/notesSlide18.xml" Id="Rddba09b1b80b4ed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7c41da8ceb4fe0" /><Relationship Type="http://schemas.openxmlformats.org/officeDocument/2006/relationships/image" Target="/ppt/media/image21.png" Id="Rf0abea7eeba14bf5" /><Relationship Type="http://schemas.openxmlformats.org/officeDocument/2006/relationships/notesSlide" Target="/ppt/notesSlides/notesSlide19.xml" Id="R2065d5e675794a1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f03796d55948ea" /><Relationship Type="http://schemas.openxmlformats.org/officeDocument/2006/relationships/notesSlide" Target="/ppt/notesSlides/notesSlide20.xml" Id="Rdb655c4f66364e3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fd8d999a02428a" /><Relationship Type="http://schemas.openxmlformats.org/officeDocument/2006/relationships/notesSlide" Target="/ppt/notesSlides/notesSlide21.xml" Id="Rd4dfdc08ebae431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4dbfbdf2a04a83" /><Relationship Type="http://schemas.openxmlformats.org/officeDocument/2006/relationships/image" Target="/ppt/media/image22.png" Id="Rc0e1bdba25d24530" /><Relationship Type="http://schemas.openxmlformats.org/officeDocument/2006/relationships/notesSlide" Target="/ppt/notesSlides/notesSlide22.xml" Id="Rec6aa91c1998447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8b62d7ee2547df" /><Relationship Type="http://schemas.openxmlformats.org/officeDocument/2006/relationships/notesSlide" Target="/ppt/notesSlides/notesSlide23.xml" Id="R06a433340177415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b901e097da43f5" /><Relationship Type="http://schemas.openxmlformats.org/officeDocument/2006/relationships/notesSlide" Target="/ppt/notesSlides/notesSlide24.xml" Id="Rafe5714ce7644dc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e2a2270f6d4d0a" /><Relationship Type="http://schemas.openxmlformats.org/officeDocument/2006/relationships/notesSlide" Target="/ppt/notesSlides/notesSlide25.xml" Id="R8fb6c9bd990a4ea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03d04edce74278" /><Relationship Type="http://schemas.openxmlformats.org/officeDocument/2006/relationships/notesSlide" Target="/ppt/notesSlides/notesSlide26.xml" Id="R0ff2149d475a43e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4a20eb149746a9" /><Relationship Type="http://schemas.openxmlformats.org/officeDocument/2006/relationships/image" Target="/ppt/media/image23.png" Id="Raa929408adce42f8" /><Relationship Type="http://schemas.openxmlformats.org/officeDocument/2006/relationships/notesSlide" Target="/ppt/notesSlides/notesSlide27.xml" Id="Re568c3d88fdb4c0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9E69B0-0ED3-44A1-8BFC-98DD541B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rPr>
              <a:t>NISE 用两个模型反复设计小分子结合蛋白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420B94-3A9F-4A8E-BBA7-10FEBBF2C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1163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先问为什么这样设计，再看模型测试、结合实验和结构验证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1E1FFE-6F4E-4793-839D-7EAC072B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85975"/>
            <a:ext cx="11163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50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650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rPr>
              <a:t>NISE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9106A7-C5D2-4D66-863D-0E631641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09950"/>
            <a:ext cx="111633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Zero-shot design of drug-binding proteins via</a:t>
            </a:r>
          </a:p>
          <a:p xmlns:a="http://schemas.openxmlformats.org/drawingml/2006/main">
            <a:pPr>
              <a:defRPr sz="217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neural iterative selection–expansion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415F75-AC7A-430B-9637-3CD1EB30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38725"/>
            <a:ext cx="11163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rPr>
              <a:t>Benjamin Fry · Kaia Slaw · Nicholas F. Polizzi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B81DCA-8F44-4DA2-9EBA-CF3677CAC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0"/>
            <a:ext cx="11163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rPr>
              <a:t>Nature 656, 237–249 (2026)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515726-06AD-460B-920F-8C67896E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67425"/>
            <a:ext cx="11163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doi:10.1038/s41586-026-10670-w</a:t>
            </a:r>
          </a:p>
        </p:txBody>
      </p:sp>
    </p:spTree>
    <p:extLst>
      <p:ext uri="{BB962C8B-B14F-4D97-AF65-F5344CB8AC3E}">
        <p14:creationId xmlns:p14="http://schemas.microsoft.com/office/powerpoint/2010/main" val="3514822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C2C4BF-E3C0-4E96-B090-F6271E93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rPr>
              <a:t>初始对接姿态不理想，设计出的序列也可能不理想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B729B7-1523-4F71-B107-63D4B8E9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1163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为什么只对一个固定的骨架和配体设计序列还不够？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892F6A-4EED-4940-B229-1A600FCBC3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a69a9923484445"/>
          <a:stretch xmlns:a="http://schemas.openxmlformats.org/drawingml/2006/main"/>
        </p:blipFill>
        <p:spPr>
          <a:xfrm xmlns:a="http://schemas.openxmlformats.org/drawingml/2006/main">
            <a:off x="3191194" y="1581150"/>
            <a:ext cx="5809612" cy="2381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0BC6FE-DFE6-485A-95E4-5B2B7AB01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14825"/>
            <a:ext cx="338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rPr>
              <a:t>先放置配体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71523D-617C-4DD9-8684-49244502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72025"/>
            <a:ext cx="338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rPr>
              <a:t>把小分子对接到</a:t>
            </a:r>
          </a:p>
          <a:p xmlns:a="http://schemas.openxmlformats.org/drawingml/2006/main">
            <a:pPr>
              <a:defRPr sz="1800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rPr>
              <a:t>预先生成的蛋白骨架中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7DA1E8-CEFF-4D85-BEB7-B1807747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314825"/>
            <a:ext cx="338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rPr>
              <a:t>再设计序列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6BE845-6C23-4625-B4FB-9891A5AE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772025"/>
            <a:ext cx="338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rPr>
              <a:t>为这个骨架和配体位置</a:t>
            </a:r>
          </a:p>
          <a:p xmlns:a="http://schemas.openxmlformats.org/drawingml/2006/main">
            <a:pPr>
              <a:defRPr sz="1800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rPr>
              <a:t>选择合适的氨基酸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8848D0-103D-4418-AF70-60B24E5C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14825"/>
            <a:ext cx="338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rPr>
              <a:t>作者提出的问题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8EF00E-1BE5-4CCA-B7BB-C37DA7A0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772025"/>
            <a:ext cx="338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rPr>
              <a:t>起始姿态很少是最优的</a:t>
            </a:r>
          </a:p>
          <a:p xmlns:a="http://schemas.openxmlformats.org/drawingml/2006/main">
            <a:pPr>
              <a:defRPr sz="1800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rPr>
              <a:t>序列、骨架和配体都需要调整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94DBB6-8CCB-455F-AB77-3D022AAE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864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图中是传统的 COMBS–Rosetta 流程；Rosetta 已允许骨架变化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1E772A-045F-429A-A846-751FAE78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4840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rPr>
              <a:t>NISE 在初始对接之后，继续调整序列、骨架和配体构象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A55321-10EC-41A2-B651-F1A24F93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228729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14A457-47D0-4ED2-843D-EA37C9964221}"/>
              </a:ext>
            </a:extLst>
          </p:cNvPr>
          <p:cNvCxnSpPr>
            <a:stCxn xmlns:a="http://schemas.openxmlformats.org/drawingml/2006/main" id="19" idx="1"/>
            <a:endCxn xmlns:a="http://schemas.openxmlformats.org/drawingml/2006/main" id="23" idx="3"/>
          </p:cNvCxnSpPr>
          <p:nvPr/>
        </p:nvCxnSpPr>
        <p:spPr>
          <a:xfrm xmlns:a="http://schemas.openxmlformats.org/drawingml/2006/main" flipH="1">
            <a:off x="3829050" y="505777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47D89"/>
            </a:solidFill>
            <a:tailEnd type="triangle" w="med" len="med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A2ECA7-F20C-4112-B366-F62ADE1CA21B}"/>
              </a:ext>
            </a:extLst>
          </p:cNvPr>
          <p:cNvCxnSpPr>
            <a:stCxn xmlns:a="http://schemas.openxmlformats.org/drawingml/2006/main" id="15" idx="1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7753350" y="505777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47D89"/>
            </a:solidFill>
            <a:tailEnd type="triangle" w="med" len="med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1C1CB7-E669-48F7-BF6B-88798D0F5340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10020300" y="3638550"/>
            <a:ext cx="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47D89"/>
            </a:solidFill>
            <a:tailEnd type="triangle" w="med" len="med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82DEFE-8BDD-4D4C-B006-86ECDA99A5DC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753350" y="267652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47D89"/>
            </a:solidFill>
            <a:tailEnd type="triangle" w="med" len="med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8CFBCC-A6E4-4EB7-AF18-F5B4B47BE9FD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829050" y="267652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47D89"/>
            </a:solidFill>
            <a:tailEnd type="triangle" w="med" len="me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7A9E92-C79B-4D8B-93DD-7817F8D0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rPr>
              <a:t>作者先测试模型，再验证设计蛋白的结合、结构和功能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61EFEC-71E7-488A-882B-B5A7F0AB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1163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沿着“模型能不能用 → 设计是否改善 → 蛋白是否有效”来讲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006A71-B5F0-4786-AEED-16384AF8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33147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6"/>
          </a:solidFill>
          <a:ln xmlns:a="http://schemas.openxmlformats.org/drawingml/2006/main" w="9525">
            <a:solidFill>
              <a:srgbClr val="C7D8D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249344-6038-4828-AA2A-D986EDC8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3009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rPr>
              <a:t>1. 明确设计问题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F5E887-FE98-4B2D-A100-9B9C93A1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3009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rPr>
              <a:t>初始骨架和配体姿态不理想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24FEBB-555F-44D2-AF5B-25A4161F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rPr>
              <a:t>为什么要一起调整？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CDF864-4C78-405B-A37F-D1E6DD41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14500"/>
            <a:ext cx="33147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6"/>
          </a:solidFill>
          <a:ln xmlns:a="http://schemas.openxmlformats.org/drawingml/2006/main" w="9525">
            <a:solidFill>
              <a:srgbClr val="C7D8D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0613B9-0963-4B72-80FD-5CD32621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05000"/>
            <a:ext cx="3009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rPr>
              <a:t>2. 测试 LASErMPNN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EC4070-2FDA-4781-9F81-C2AFCB1D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52700"/>
            <a:ext cx="3009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rPr>
              <a:t>序列恢复率、未见过的结构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493E35-8B92-4AC6-8BBC-8101458C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7660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rPr>
              <a:t>能设计合理的序列吗？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86344B-A557-429C-821A-DF849FCC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14500"/>
            <a:ext cx="33147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6"/>
          </a:solidFill>
          <a:ln xmlns:a="http://schemas.openxmlformats.org/drawingml/2006/main" w="9525">
            <a:solidFill>
              <a:srgbClr val="C7D8D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E380F9-2299-49C3-85ED-56CD8798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905000"/>
            <a:ext cx="3009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rPr>
              <a:t>3. 运行 NISE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3C553E-5A8E-4DD9-AB7E-B3C055BD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52700"/>
            <a:ext cx="3009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rPr>
              <a:t>对接起点 → 反复设计和预测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A27773-B18A-400D-B750-6549C5EAF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7660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rPr>
              <a:t>口袋有没有改善？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50A92F-6CD0-4CEB-9A88-40ADAF85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95750"/>
            <a:ext cx="33147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6"/>
          </a:solidFill>
          <a:ln xmlns:a="http://schemas.openxmlformats.org/drawingml/2006/main" w="9525">
            <a:solidFill>
              <a:srgbClr val="C7D8D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BA168E-D039-478B-83DB-F0E90F3C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86250"/>
            <a:ext cx="3009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rPr>
              <a:t>4. 测量结合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951131-E9B4-454C-A4DF-1BE8C2A4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933950"/>
            <a:ext cx="3009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rPr>
              <a:t>最终筛选、表达和亲和力实验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99D54D-7350-472B-9C7A-7C5AABD7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65785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rPr>
              <a:t>蛋白真的结合药物吗？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C31B66-0C0F-4D65-9B8E-8C527AD5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95750"/>
            <a:ext cx="33147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6"/>
          </a:solidFill>
          <a:ln xmlns:a="http://schemas.openxmlformats.org/drawingml/2006/main" w="9525">
            <a:solidFill>
              <a:srgbClr val="C7D8D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439BE5-05DC-46B5-BB1A-4A5AB2EF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86250"/>
            <a:ext cx="3009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rPr>
              <a:t>5. 检查结构和功能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9A0540-D654-4E2A-9FB8-924F173C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933950"/>
            <a:ext cx="3009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rPr>
              <a:t>点突变、晶体结构、水解实验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A1D817-71F7-46FC-9A44-4E3B7AF1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65785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rPr>
              <a:t>为什么结合，能做什么？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C2416E-200F-4382-92F7-FF001E44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0"/>
            <a:ext cx="33147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6"/>
          </a:solidFill>
          <a:ln xmlns:a="http://schemas.openxmlformats.org/drawingml/2006/main" w="9525">
            <a:solidFill>
              <a:srgbClr val="C7D8D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960996-919B-4D92-8328-DD818B35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3009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rPr>
              <a:t>6. 换药物和模型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37D45D-CCC3-4D90-8F85-42FB1726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33950"/>
            <a:ext cx="3009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rPr>
              <a:t>Apixaban、Boltz-2、LigandMPNN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E193BF-08FA-4AE2-9E11-A4F444F1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rPr>
              <a:t>换一个任务还能用吗？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0B4D3C-C63D-4E3E-B380-7EE935DD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4840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rPr>
              <a:t>图号是文章展示结果的顺序；这里按每一步要解决的问题组织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A36CCF-57CC-48B4-B2DE-8685A100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457348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A8E430-1934-4D2F-B45D-8CE6C9A6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rPr>
              <a:t>LASErMPNN 根据骨架和配体，同时设计序列与侧链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38E21D-E967-4665-96C6-E69FD0EE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1163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输入是什么？模型输出什么？与 LigandMPNN 有什么不同？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B389DD-0377-4096-9CD2-C79AC2CA06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327c9618424e77"/>
          <a:stretch xmlns:a="http://schemas.openxmlformats.org/drawingml/2006/main"/>
        </p:blipFill>
        <p:spPr>
          <a:xfrm xmlns:a="http://schemas.openxmlformats.org/drawingml/2006/main">
            <a:off x="2640664" y="1524000"/>
            <a:ext cx="6910673" cy="3905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2D8757-19F4-4FD1-BF8E-B2869D84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34025"/>
            <a:ext cx="360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rPr>
              <a:t>输入：骨架和配体原子坐标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EE834D-9E88-4EDA-AD15-ECC0312A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450" y="5534025"/>
            <a:ext cx="360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rPr>
              <a:t>输出：氨基酸和侧链二面角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C84C36-48E8-492F-9860-2B4130B4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550" y="5534025"/>
            <a:ext cx="360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rPr>
              <a:t>配体 encoder 先单独预训练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FF85E9-B61E-48C5-B72D-1CD4575D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864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模型逐个设计残基；后设计的残基能看到前面已选的氨基酸和侧链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547D35-D356-4C8E-B617-6201132B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4840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rPr>
              <a:t>LASErMPNN 负责设计序列；蛋白能否形成预期复合物还要再预测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63DD2E-1546-46AD-B6D3-6539A2C2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104571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1BB30B-2552-4208-BE33-6D4C3798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rPr>
              <a:t>加入配体信息后，结合位点恢复率从 54% 提高到 61%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BBD815-0A2E-433F-A4A5-FE869BED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1163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Fig. 2b：模型能否选出天然结合位点中的氨基酸？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1D980B-CED9-46C3-B98F-DEB6EBF5FC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3703b03cea4ebb"/>
          <a:stretch xmlns:a="http://schemas.openxmlformats.org/drawingml/2006/main"/>
        </p:blipFill>
        <p:spPr>
          <a:xfrm xmlns:a="http://schemas.openxmlformats.org/drawingml/2006/main">
            <a:off x="514350" y="1675860"/>
            <a:ext cx="7600950" cy="383965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0C878D-6DDC-49D2-B1D4-F303120B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714500"/>
            <a:ext cx="308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rPr>
              <a:t>317 个测试复合物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5D1C48-B2D9-47E8-8755-12AB5889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24075"/>
            <a:ext cx="3086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rPr>
              <a:t>设计整条序列</a:t>
            </a:r>
          </a:p>
          <a:p xmlns:a="http://schemas.openxmlformats.org/drawingml/2006/main">
            <a:pPr>
              <a:def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rPr>
              <a:t>统计结合位点恢复率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6996E3-8ED0-4875-98F8-A43F62AC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28950"/>
            <a:ext cx="308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rPr>
              <a:t>平均恢复率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4F3BF9-4851-4698-9152-AD3493593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38525"/>
            <a:ext cx="3086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rPr>
              <a:t>LASErMPNN：61%</a:t>
            </a:r>
          </a:p>
          <a:p xmlns:a="http://schemas.openxmlformats.org/drawingml/2006/main">
            <a:pPr>
              <a:def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rPr>
              <a:t>protein-only：54%</a:t>
            </a:r>
          </a:p>
          <a:p xmlns:a="http://schemas.openxmlformats.org/drawingml/2006/main">
            <a:pPr>
              <a:def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rPr>
              <a:t>重训练 LigandMPNN：57%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4A1BC8-EB70-428F-9AB2-B1E72A2F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43400"/>
            <a:ext cx="308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rPr>
              <a:t>怎样读这两个图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D1AF9F-7C18-47EE-8379-2A9B9F53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752975"/>
            <a:ext cx="3086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rPr>
              <a:t>越靠近右侧，LASErMPNN 越好</a:t>
            </a:r>
          </a:p>
          <a:p xmlns:a="http://schemas.openxmlformats.org/drawingml/2006/main">
            <a:pPr>
              <a:def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rPr>
              <a:t>对角线下方表示它优于对照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439137-0FBA-4142-8D4E-8BB11B2C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864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protein-only 是去掉配体信息后单独训练的模型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DEF84D-6EEC-4A74-8F80-74E4B9073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4840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rPr>
              <a:t>骨架本身能提供很多信息；配体信息进一步提高结合位点恢复率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72B50C-DF42-4EDE-A56A-860C77BBC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5069153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D2A817-AACE-4CC0-83C6-F0D7D09A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rPr>
              <a:t>未参与训练的链霉亲和素，最高结合位点恢复率为 94%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12A9D8-603D-4877-8A55-FEFCD4D0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1163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Fig. 2c：排除相似序列和结构后，模型还能找回天然结合位点吗？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1E39BF-8DAA-47A5-9523-823E21651C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c20e30a10e455d"/>
          <a:stretch xmlns:a="http://schemas.openxmlformats.org/drawingml/2006/main"/>
        </p:blipFill>
        <p:spPr>
          <a:xfrm xmlns:a="http://schemas.openxmlformats.org/drawingml/2006/main">
            <a:off x="595960" y="1581150"/>
            <a:ext cx="7437731" cy="40290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8A4959-BA6C-4221-AA4D-C3577879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714500"/>
            <a:ext cx="308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rPr>
              <a:t>先排除相关训练数据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9EF6CD-D0AE-4A83-A70C-EE92B57A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24075"/>
            <a:ext cx="3086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rPr>
              <a:t>去掉链霉亲和素相关的</a:t>
            </a:r>
          </a:p>
          <a:p xmlns:a="http://schemas.openxmlformats.org/drawingml/2006/main">
            <a:pPr>
              <a:def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rPr>
              <a:t>序列、结构和进化家族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4659E5-5DE6-4FC4-B69E-6B2A1106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48000"/>
            <a:ext cx="308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rPr>
              <a:t>生成 10,000 条序列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1CF34B-82E5-442D-85F9-3BE5B3A13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57575"/>
            <a:ext cx="3086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rPr>
              <a:t>用 Boltz-1 检查 self-consistency</a:t>
            </a:r>
          </a:p>
          <a:p xmlns:a="http://schemas.openxmlformats.org/drawingml/2006/main">
            <a:pPr>
              <a:def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rPr>
              <a:t>再按 BUNs 排序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293A04-DF54-4278-8910-F2CE6456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81500"/>
            <a:ext cx="308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rPr>
              <a:t>最佳设计恢复率：94%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023BB8-F252-46BF-8FA2-9DD0B2B4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791075"/>
            <a:ext cx="3086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rPr>
              <a:t>绿色：与天然残基一致</a:t>
            </a:r>
          </a:p>
          <a:p xmlns:a="http://schemas.openxmlformats.org/drawingml/2006/main">
            <a:pPr>
              <a:def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rPr>
              <a:t>红色：两个不同的残基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C65DBD-CFDB-4D8A-98AF-77C32CBD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864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这个设计排在前 25 名；94% 是最佳样本，不是平均值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C65109-C78A-466B-8D97-7DD63255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4840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rPr>
              <a:t>模型能找回未见过的结合位点，但这里没有测新序列的亲和力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7F2015-7EC6-4F29-B935-B967BBC6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1287657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76FA4E-461C-4D88-A8FA-E625C35C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rPr>
              <a:t>Exatecan 设计从四螺旋骨架和对接后的配体开始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F18B32-3626-44BA-8888-4C77E1AA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1163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第一个任务：让蛋白包住 Exatecan 容易水解的内酯环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8EF5EC-EF28-40C9-A0F3-4D94E2C1B8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0bb6ca157848e3"/>
          <a:stretch xmlns:a="http://schemas.openxmlformats.org/drawingml/2006/main"/>
        </p:blipFill>
        <p:spPr>
          <a:xfrm xmlns:a="http://schemas.openxmlformats.org/drawingml/2006/main">
            <a:off x="514350" y="1698440"/>
            <a:ext cx="3571875" cy="2508619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517AD9-5877-4C55-B3E9-E89389A6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09750"/>
            <a:ext cx="723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rPr>
              <a:t>目标：包埋易水解的内酯环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E96D94-C871-4C86-B40C-6CAC6DC5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28875"/>
            <a:ext cx="723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rPr>
              <a:t>起点：传统设计的骨架和配体坐标</a:t>
            </a:r>
          </a:p>
          <a:p xmlns:a="http://schemas.openxmlformats.org/drawingml/2006/main">
            <a:pPr>
              <a:defRPr sz="187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rPr>
              <a:t>去掉序列，交给 NISE 重新设计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50E6F8-A870-4EC6-B674-481512851A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1ccdd0eaaf4dd8"/>
          <a:stretch xmlns:a="http://schemas.openxmlformats.org/drawingml/2006/main"/>
        </p:blipFill>
        <p:spPr>
          <a:xfrm xmlns:a="http://schemas.openxmlformats.org/drawingml/2006/main">
            <a:off x="2540668" y="3781425"/>
            <a:ext cx="7110663" cy="18764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3CBB85-4752-4947-9483-06D067BE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864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作者按计算结果选出起点，选起点时还没有做结合实验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DB838E-F7F9-4180-AC91-4717346A1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4840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rPr>
              <a:t>去掉传统设计的序列，只把骨架和配体坐标交给 NISE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DC30E9-1D25-4353-B0E0-A38284B7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5084805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E2DFF0-B27D-40F5-9EA0-5C2F2045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rPr>
              <a:t>NISE 反复设计序列、预测复合物，再选出下一轮输入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6C9D63-16D3-4AEA-ADF3-3DC8221B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1163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Fig. 1b：一轮 selection–expansion 到底做了什么？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24D4CF-0D7A-4FC0-B632-D9E3C96DBC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3a49a3856f4418"/>
          <a:stretch xmlns:a="http://schemas.openxmlformats.org/drawingml/2006/main"/>
        </p:blipFill>
        <p:spPr>
          <a:xfrm xmlns:a="http://schemas.openxmlformats.org/drawingml/2006/main">
            <a:off x="514350" y="1749576"/>
            <a:ext cx="7600950" cy="383509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4CFE98-FE6D-4920-A202-1456CA2F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0"/>
            <a:ext cx="3105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rPr>
              <a:t>1. Expansion：生成序列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B01769-AC8C-455A-A109-729A82382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24075"/>
            <a:ext cx="3105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rPr>
              <a:t>给定骨架和配体坐标</a:t>
            </a:r>
          </a:p>
          <a:p xmlns:a="http://schemas.openxmlformats.org/drawingml/2006/main">
            <a:pPr>
              <a:def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rPr>
              <a:t>生成多条候选序列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67AB86-6F1D-4241-A869-25EBF14F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71800"/>
            <a:ext cx="3105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rPr>
              <a:t>2. 预测复合物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CC0A42-271D-4CF8-B78F-849BBB0C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81375"/>
            <a:ext cx="3105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rPr>
              <a:t>给定序列和配体身份</a:t>
            </a:r>
          </a:p>
          <a:p xmlns:a="http://schemas.openxmlformats.org/drawingml/2006/main">
            <a:pPr>
              <a:def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rPr>
              <a:t>预测骨架及配体的位置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3659EE-DD4B-4CA5-B892-3005D7A8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29100"/>
            <a:ext cx="3105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rPr>
              <a:t>3. Selection：选出结构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3EC062-8B8C-40A4-9610-6E5F40E7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38675"/>
            <a:ext cx="3105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rPr>
              <a:t>先检查 self-consistency</a:t>
            </a:r>
          </a:p>
          <a:p xmlns:a="http://schemas.openxmlformats.org/drawingml/2006/main">
            <a:pPr>
              <a:def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rPr>
              <a:t>再选 ligand pLDDT 高的结构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7BF520-9229-442A-8F0B-D1E35C08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864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下一轮输入来自之前的优选结构；两个任务的具体保留规则不同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FD4FCE-E49D-4871-A7FC-FFF3C7EC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4840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rPr>
              <a:t>送回模型的是新的骨架和配体坐标，因此下一轮序列也会改变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D87A4B-C63C-436F-B116-994A0735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7334302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FB330B-EB45-49B7-B67C-A38837AE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rPr>
              <a:t>迭代后，更多设计能预测出预期的配体姿态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8EC0C5-5FFC-4553-8E47-41D5293A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1163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Fig. 3d,e：结构怎样改变？self-consistency 有没有改善？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65D151-F37B-4D57-9042-1485D4A2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66875"/>
            <a:ext cx="5353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rPr>
              <a:t>左：输入结构与 NISE 设计叠合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D84834-9C58-46E2-B107-8EB211BC1A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e15a65f5f0469e"/>
          <a:stretch xmlns:a="http://schemas.openxmlformats.org/drawingml/2006/main"/>
        </p:blipFill>
        <p:spPr>
          <a:xfrm xmlns:a="http://schemas.openxmlformats.org/drawingml/2006/main">
            <a:off x="514350" y="2740306"/>
            <a:ext cx="5353050" cy="184411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5B2E03-86F3-4F9A-9D07-BEBB9EE2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66875"/>
            <a:ext cx="5353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rPr>
              <a:t>右：第 0 轮与第 35 轮比较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87E1DA-F699-41F9-9CA9-F4D1179059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3526cb26454d34"/>
          <a:stretch xmlns:a="http://schemas.openxmlformats.org/drawingml/2006/main"/>
        </p:blipFill>
        <p:spPr>
          <a:xfrm xmlns:a="http://schemas.openxmlformats.org/drawingml/2006/main">
            <a:off x="6324600" y="2366361"/>
            <a:ext cx="5353050" cy="259200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3896AB-6CF6-4C66-9639-6E151270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53050"/>
            <a:ext cx="535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绿色：输入；灰色：NISE 设计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A430A9-2004-4378-8B7B-8571652B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53050"/>
            <a:ext cx="535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越靠近左下角，骨架和配体越接近输入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39740A-E723-47F4-9306-914BDA30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864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局部螺旋改变、螺旋间距缩小，Exatecan 更深入口袋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F31A71-32FC-41FB-B4C8-AB75D432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4840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rPr>
              <a:t>只预测对骨架还不够；配体也要出现在预期的位置和朝向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18C1A8-7815-4045-8082-555B3BE0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9493067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AAC7E0-C391-4E72-BD93-61AB717A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rPr>
              <a:t>NISE 提高 ligand pLDDT，并降低 sequence NLL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2CB909-62B4-4336-8704-55EA0ECD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1163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Fig. 1c：如果改用 Rosetta 能量最小化，还能得到同样的改善吗？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39E53C-7549-4A57-84DC-0BBCD8C530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7898b873d54100"/>
          <a:stretch xmlns:a="http://schemas.openxmlformats.org/drawingml/2006/main"/>
        </p:blipFill>
        <p:spPr>
          <a:xfrm xmlns:a="http://schemas.openxmlformats.org/drawingml/2006/main">
            <a:off x="2164209" y="1524000"/>
            <a:ext cx="7863581" cy="3905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3CCF42-09BC-4137-BB36-B8102327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34025"/>
            <a:ext cx="546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rPr>
              <a:t>红色：ligand pLDDT，越高越好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7BE618-133E-4178-AC0D-622860E3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534025"/>
            <a:ext cx="546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rPr>
              <a:t>蓝色：sequence NLL，越低越好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8A6D83-AC78-4E34-BE55-572AFB3D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864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两组都用 LASErMPNN；右组用 Rosetta 调整结构并按配体能量选择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A8BB80-BE4F-49D8-9761-D9EAE47B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4840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rPr>
              <a:t>NISE 同时改善两项指标，energy-based ISE 没有出现同样的趋势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EA0BC6-A2A0-40F4-BC50-8BA95A75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349278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458215-FB48-40FF-8BA3-8A7752A3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rPr>
              <a:t>高 pLDDT 还不够，实验前还要检查口袋和寡聚状态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84C344-B15E-4D3F-9A8A-9B93ABC4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1163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作者为什么没有直接把得分最高的设计全部送去实验？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861DC1-E120-4DB4-8F12-4F8DA91187B6}"/>
              </a:ext>
            </a:extLst>
          </p:cNvPr>
          <p:cNvGraphicFramePr/>
          <p:nvPr/>
        </p:nvGraphicFramePr>
        <p:xfrm>
          <a:off xmlns:a="http://schemas.openxmlformats.org/drawingml/2006/main" x="514350" y="1685925"/>
          <a:ext xmlns:a="http://schemas.openxmlformats.org/drawingml/2006/main" cx="111633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3857625"/>
                <a:gridCol w="5162550"/>
              </a:tblGrid>
              <a:tr h="72771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3B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要检查什么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E2E6"/>
                      </a:solidFill>
                      <a:prstDash val="solid"/>
                    </a:lnL>
                    <a:lnR w="9525">
                      <a:solidFill>
                        <a:srgbClr val="DAE2E6"/>
                      </a:solidFill>
                      <a:prstDash val="solid"/>
                    </a:lnR>
                    <a:lnT w="9525">
                      <a:solidFill>
                        <a:srgbClr val="DAE2E6"/>
                      </a:solidFill>
                      <a:prstDash val="solid"/>
                    </a:lnT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3B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作者怎么做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2E6"/>
                      </a:solidFill>
                      <a:prstDash val="solid"/>
                    </a:lnR>
                    <a:lnT w="9525">
                      <a:solidFill>
                        <a:srgbClr val="DAE2E6"/>
                      </a:solidFill>
                      <a:prstDash val="solid"/>
                    </a:lnT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3B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担心什么问题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2E6"/>
                      </a:solidFill>
                      <a:prstDash val="solid"/>
                    </a:lnR>
                    <a:lnT w="9525">
                      <a:solidFill>
                        <a:srgbClr val="DAE2E6"/>
                      </a:solidFill>
                      <a:prstDash val="solid"/>
                    </a:lnT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EDF3F5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预测结构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E2E6"/>
                      </a:solidFill>
                      <a:prstDash val="solid"/>
                    </a:lnL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 self-consistency 和置信度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结构或配体姿态不符合预期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埋藏极性原子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E2E6"/>
                      </a:solidFill>
                      <a:prstDash val="solid"/>
                    </a:lnL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能量最小化，再统计 BUNs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极性原子埋藏，却没有氢键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去掉配体后的口袋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E2E6"/>
                      </a:solidFill>
                      <a:prstDash val="solid"/>
                    </a:lnL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重新排侧链，再放回配体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侧链堵住口袋或与配体冲突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是否形成寡聚体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E2E6"/>
                      </a:solidFill>
                      <a:prstDash val="solid"/>
                    </a:lnL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预测双拷贝蛋白结构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可能出现域交换或聚集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0256F1-7AD2-402B-A4CD-49370A0B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864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Exatecan 与 Apixaban 的具体阈值和筛选模型不同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8AE400-998B-401A-9396-A6B6D251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4840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rPr>
              <a:t>实验结果来自完整流程：准备起点 → NISE → 最终筛选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F7F405-C649-4213-9182-C0968B1C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2743224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D27BFA-2A27-4CE2-9C1D-7D17D1B3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rPr>
              <a:t>4 个 Exatecan 设计都能结合，EPIC 的 Kd 为 120 nM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7B846C-A4EA-4C2F-B21B-2C0195E0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1163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Fig. 3f,g：表达蛋白后，直接测亲和力和选择性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B6F9F2-1D22-4326-BB83-E2CA5EB735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9e59ff0fa24a38"/>
          <a:stretch xmlns:a="http://schemas.openxmlformats.org/drawingml/2006/main"/>
        </p:blipFill>
        <p:spPr>
          <a:xfrm xmlns:a="http://schemas.openxmlformats.org/drawingml/2006/main">
            <a:off x="1342590" y="1581150"/>
            <a:ext cx="2915520" cy="4095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A0004F-F3B6-4F2A-8ADC-7D717BC5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57350"/>
            <a:ext cx="2571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rPr>
              <a:t>EPIC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DB4B38-D84B-45DB-BBF3-7AD7007F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33600"/>
            <a:ext cx="2571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rPr>
              <a:t>120 nM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DC54E4-F8D3-4B37-ADD0-1F997691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57350"/>
            <a:ext cx="2628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rPr>
              <a:t>最佳传统设计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B4E3FA-BD86-43E8-B86C-87B26F9C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33600"/>
            <a:ext cx="26289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rPr>
              <a:t>8 µM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54C4AA-883D-427B-A426-AFCBEE063069}"/>
              </a:ext>
            </a:extLst>
          </p:cNvPr>
          <p:cNvGraphicFramePr/>
          <p:nvPr/>
        </p:nvGraphicFramePr>
        <p:xfrm>
          <a:off xmlns:a="http://schemas.openxmlformats.org/drawingml/2006/main" x="6096000" y="3105150"/>
          <a:ext xmlns:a="http://schemas.openxmlformats.org/drawingml/2006/main" cx="5581650" cy="2533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90900"/>
                <a:gridCol w="2190750"/>
              </a:tblGrid>
              <a:tr h="50673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47D8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EPIC 的配体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E2E6"/>
                      </a:solidFill>
                    </a:lnL>
                    <a:lnR w="9525">
                      <a:solidFill>
                        <a:srgbClr val="DAE2E6"/>
                      </a:solidFill>
                    </a:lnR>
                    <a:lnT w="9525">
                      <a:solidFill>
                        <a:srgbClr val="DAE2E6"/>
                      </a:solidFill>
                    </a:lnT>
                    <a:lnB w="9525">
                      <a:solidFill>
                        <a:srgbClr val="DAE2E6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47D8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2E6"/>
                      </a:solidFill>
                    </a:lnR>
                    <a:lnT w="9525">
                      <a:solidFill>
                        <a:srgbClr val="DAE2E6"/>
                      </a:solidFill>
                    </a:lnT>
                    <a:lnB w="9525">
                      <a:solidFill>
                        <a:srgbClr val="DAE2E6"/>
                      </a:solidFill>
                    </a:lnB>
                    <a:solidFill>
                      <a:srgbClr val="EDF3F5"/>
                    </a:solidFill>
                  </a:tcPr>
                </a:tc>
              </a:tr>
              <a:tr h="50673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Exatecan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E2E6"/>
                      </a:solidFill>
                    </a:lnL>
                    <a:lnR w="9525">
                      <a:solidFill>
                        <a:srgbClr val="DAE2E6"/>
                      </a:solidFill>
                    </a:lnR>
                    <a:lnB w="9525">
                      <a:solidFill>
                        <a:srgbClr val="DA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0.12 µM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2E6"/>
                      </a:solidFill>
                    </a:lnR>
                    <a:lnB w="9525">
                      <a:solidFill>
                        <a:srgbClr val="DAE2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673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FL118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E2E6"/>
                      </a:solidFill>
                    </a:lnL>
                    <a:lnR w="9525">
                      <a:solidFill>
                        <a:srgbClr val="DAE2E6"/>
                      </a:solidFill>
                    </a:lnR>
                    <a:lnB w="9525">
                      <a:solidFill>
                        <a:srgbClr val="DA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µM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2E6"/>
                      </a:solidFill>
                    </a:lnR>
                    <a:lnB w="9525">
                      <a:solidFill>
                        <a:srgbClr val="DAE2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673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Belotecan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E2E6"/>
                      </a:solidFill>
                    </a:lnL>
                    <a:lnR w="9525">
                      <a:solidFill>
                        <a:srgbClr val="DAE2E6"/>
                      </a:solidFill>
                    </a:lnR>
                    <a:lnB w="9525">
                      <a:solidFill>
                        <a:srgbClr val="DA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 µM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2E6"/>
                      </a:solidFill>
                    </a:lnR>
                    <a:lnB w="9525">
                      <a:solidFill>
                        <a:srgbClr val="DAE2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673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Camptothecin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E2E6"/>
                      </a:solidFill>
                    </a:lnL>
                    <a:lnR w="9525">
                      <a:solidFill>
                        <a:srgbClr val="DAE2E6"/>
                      </a:solidFill>
                    </a:lnR>
                    <a:lnB w="9525">
                      <a:solidFill>
                        <a:srgbClr val="DA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 µM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2E6"/>
                      </a:solidFill>
                    </a:lnR>
                    <a:lnB w="9525">
                      <a:solidFill>
                        <a:srgbClr val="DAE2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45BD71-7E15-4C32-87C2-C7E491D9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864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SEC 显示这 4 个蛋白为单体；EPIC 对 Exatecan 的结合最强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45C31C-1BE3-45DA-90E5-FEE00F53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4840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rPr>
              <a:t>NISE：4/4 结合；传统设计：3/16 结合，最佳 Kd 约 8 µM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0950A9-F02F-4030-A290-32792AD5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175367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F162EF-C447-4B2B-9C2F-02BBAF3E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rPr>
              <a:t>两个点突变将 EPIC 的亲和力提高了 100 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8BECC1-3DE9-4BAD-B862-EAD516EA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1163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Fig. 4b,c：用 neural proofreading 检查已有序列，能否找到更好的残基？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00E4AB-F305-492D-BA07-182C291757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8f914bb1df4912"/>
          <a:stretch xmlns:a="http://schemas.openxmlformats.org/drawingml/2006/main"/>
        </p:blipFill>
        <p:spPr>
          <a:xfrm xmlns:a="http://schemas.openxmlformats.org/drawingml/2006/main">
            <a:off x="1278681" y="1533525"/>
            <a:ext cx="4376839" cy="4162425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136499-951C-4D4A-A398-8C5063707F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13bc18d19a4f55"/>
          <a:stretch xmlns:a="http://schemas.openxmlformats.org/drawingml/2006/main"/>
        </p:blipFill>
        <p:spPr>
          <a:xfrm xmlns:a="http://schemas.openxmlformats.org/drawingml/2006/main">
            <a:off x="7333398" y="1581150"/>
            <a:ext cx="3792654" cy="31146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6FD6A8-179A-4F5F-942C-DC788AAB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933950"/>
            <a:ext cx="43434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rPr>
              <a:t>EPIC：Kd = 120 nM</a:t>
            </a:r>
          </a:p>
          <a:p xmlns:a="http://schemas.openxmlformats.org/drawingml/2006/main">
            <a:pPr>
              <a:defRPr sz="202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rPr>
              <a:t>双突变体：Kd = 1.2 nM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889277-2F7C-4CD3-83B9-F46C0ED0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864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Q51N：8.0 nM；M97L：7.4 nM；Q51N/M97L：1.2 nM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CA44DB-79C2-400D-8C94-9151097E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4840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rPr>
              <a:t>固定其他残基，重新评估一个位置，再用结合实验检验突变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1BE6AE-0687-425A-8CCC-C6CCE404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6981677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FE06B7-2824-4181-9918-F33D33ED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rPr>
              <a:t>晶体结构接近设计，并解释了 Q51N 的作用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4EAFBA-721F-47CA-8AAE-7EB38635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1163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Fig. 4d–f：配体到底怎样结合？为什么 Q51N 的亲和力更高？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B774E3-F364-4781-A7EF-8F2976BD1D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04afe047194bd3"/>
          <a:stretch xmlns:a="http://schemas.openxmlformats.org/drawingml/2006/main"/>
        </p:blipFill>
        <p:spPr>
          <a:xfrm xmlns:a="http://schemas.openxmlformats.org/drawingml/2006/main">
            <a:off x="2038149" y="1562100"/>
            <a:ext cx="8115703" cy="40767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01991B-3B02-4491-93F5-AE18F46E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864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EPIC 晶体分辨率：2.0 Å；EPIC(Q51N)：2.2 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269522-EABB-4131-9C22-7D061450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4840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rPr>
              <a:t>Q51N 的较短侧链允许配体深入约 0.5 Å，并形成双齿氢键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40CAA9-7599-4643-9C5C-8098225B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75539192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77D523-075C-4717-8AC5-54D8029F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rPr>
              <a:t>EPIC 双突变体能保护 Exatecan 的内酯环约 50 小时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0B0AAA-86FD-440D-8182-D0F2A15C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1163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Fig. 5e：结合是否实现了最初的目标——减少药物水解？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BF6B6E-4EFE-4733-9176-BA2B54ED2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85925"/>
            <a:ext cx="11163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rPr>
              <a:t>包埋内酯环，减少与溶剂接触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0D738F-5B9B-4B3E-ACC4-E171F5E6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71725"/>
            <a:ext cx="11163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rPr>
              <a:t>PBS · pH 7.4 · 室温</a:t>
            </a:r>
          </a:p>
          <a:p xmlns:a="http://schemas.openxmlformats.org/drawingml/2006/main">
            <a:pPr>
              <a:defRPr sz="187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rPr>
              <a:t>Exatecan 与 EPIC 系列均为 20 µM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DEEB91-31B5-406F-8257-F1961B8C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67075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rPr>
              <a:t>Exatecan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A36C32-F762-4CE8-A40B-1465E0D8A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67075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rPr>
              <a:t>+ HSA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F7D180-D510-4405-895D-EE3E838A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7075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rPr>
              <a:t>+ EPIC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B98256-883F-45AC-8CD0-A2E1ADB6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267075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rPr>
              <a:t>+ 双突变体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14BFE6-1628-4574-A1E3-080BE780E7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1bb2cf9c2d4dfc"/>
          <a:stretch xmlns:a="http://schemas.openxmlformats.org/drawingml/2006/main"/>
        </p:blipFill>
        <p:spPr>
          <a:xfrm xmlns:a="http://schemas.openxmlformats.org/drawingml/2006/main">
            <a:off x="526451" y="3571875"/>
            <a:ext cx="11139097" cy="22574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FC62C7-66B1-4008-BDC7-5549DDD5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864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光谱直接显示水解被抑制；闭环比例还结合了拟合和热力学分析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5139B0-1571-4558-A1DE-3786D6CD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4840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rPr>
              <a:t>双突变体组在约 50 h 内没有明显光谱变化；HSA 不能这样保护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7B9C32-6E57-4B0D-A0FB-11126E5E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2442635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4DA8B6-30E4-4524-AFB4-09788D56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rPr>
              <a:t>Apixaban 设计使用 NTF2 骨架和 Boltz-2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2B5D55-C53B-4D78-82C7-CB759908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1163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换一种药物、换一种蛋白折叠，NISE 是否还能用？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7AF8F4-08C0-4D48-BD14-9E0319CE83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153180e4454421"/>
          <a:stretch xmlns:a="http://schemas.openxmlformats.org/drawingml/2006/main"/>
        </p:blipFill>
        <p:spPr>
          <a:xfrm xmlns:a="http://schemas.openxmlformats.org/drawingml/2006/main">
            <a:off x="2615644" y="1524000"/>
            <a:ext cx="6960712" cy="3905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67BAE1-8AFD-4E2D-BA7A-58B7A2FB7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34025"/>
            <a:ext cx="360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rPr>
              <a:t>50 个骨架 → 对接和初筛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7942C8-64DE-47CB-B85D-4AA04EF03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450" y="5534025"/>
            <a:ext cx="360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rPr>
              <a:t>6 个起点 → NISE 迭代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DAB16B-B0A3-44E5-883C-943589C0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550" y="5534025"/>
            <a:ext cx="360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rPr>
              <a:t>最终筛选 → 6 个实验设计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81EDF2-1676-4707-8A81-649EACEE0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864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NTF2 是混合 α/β 折叠；每条 NISE 轨迹运行 14–28 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7914D8-B6A5-4628-9109-9429A5A2F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4840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rPr>
              <a:t>先广泛筛选起点，再围绕少数起点反复设计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F59E39-24FB-4D81-99DC-454F2004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91126758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5D46AF-1257-4505-973A-7B9208F0C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rPr>
              <a:t>6 个 Apixaban 设计中有 5 个结合，APEX 的 Kd 为 80 pM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5B3CBF-5B85-4728-BCEE-CED6FF84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1163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Fig. 6e,f：先测荧光配体，再用未标记药物做竞争实验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13CE7C-9603-4888-A7B9-983C4BFE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47825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rPr>
              <a:t>标记探针直接结合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7CE43-D73B-427B-BCCF-0AD5B40D3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647825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rPr>
              <a:t>未标记药物竞争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8C6CD0-36EA-43C9-AC33-A8FFD63B4D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1f45c919c94235"/>
          <a:stretch xmlns:a="http://schemas.openxmlformats.org/drawingml/2006/main"/>
        </p:blipFill>
        <p:spPr>
          <a:xfrm xmlns:a="http://schemas.openxmlformats.org/drawingml/2006/main">
            <a:off x="595303" y="2152650"/>
            <a:ext cx="4410094" cy="3533775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8CC4FB-28EF-4325-9F8B-6755D412B8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6c56aae0234120"/>
          <a:stretch xmlns:a="http://schemas.openxmlformats.org/drawingml/2006/main"/>
        </p:blipFill>
        <p:spPr>
          <a:xfrm xmlns:a="http://schemas.openxmlformats.org/drawingml/2006/main">
            <a:off x="5665599" y="2152650"/>
            <a:ext cx="3099178" cy="35337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60A1A0-C183-4161-A7B7-7BDDA91A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6695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rPr>
              <a:t>APEX 原药 Kd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B25618-01A3-4D1A-AFAC-CEC5036CC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47975"/>
            <a:ext cx="21526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rPr>
              <a:t>80 pM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3A300D-3BEB-40F0-8C97-CECD1F53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57600"/>
            <a:ext cx="2152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rPr>
              <a:t>95% CI</a:t>
            </a:r>
          </a:p>
          <a:p xmlns:a="http://schemas.openxmlformats.org/drawingml/2006/main">
            <a:pPr>
              <a:def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rPr>
              <a:t>54–122 pM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14DFEB-229E-4B2A-84F5-2AE46620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838700"/>
            <a:ext cx="2152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rPr>
              <a:t>5/6 候选</a:t>
            </a:r>
          </a:p>
          <a:p xmlns:a="http://schemas.openxmlformats.org/drawingml/2006/main">
            <a:pPr>
              <a:defRPr sz="18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rPr>
              <a:t>测到结合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798F81-428F-498A-9AAD-16463B15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864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5/6 设计能结合；补充表中的原药 Kd 范围为 80 pM–54 nM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BC7CAD-11FE-42FD-B516-AC5CDED7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4840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rPr>
              <a:t>APEX 对 Apixaban–FITC 的 Kd 为 990 pM；对未标记药物为 80 pM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A7C769-0E55-4A13-89E8-9EB2C292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1210976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D9807A-08BD-4C49-BCF3-8FA3D3C6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rPr>
              <a:t>换成 LigandMPNN 后，NISE 的计算指标也能改善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0316A1-9857-47C9-802C-380CE99D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1163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补充 Fig. 37,38：NISE 是否必须搭配 LASErMPNN？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B643BA-E36F-4A3C-A7BD-AACD1126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66875"/>
            <a:ext cx="5353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rPr>
              <a:t>LASErMPNN + Boltz-2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3ABEAC-3D9B-426E-88FB-F9D1F95D1F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bdda84fb234e6b"/>
          <a:stretch xmlns:a="http://schemas.openxmlformats.org/drawingml/2006/main"/>
        </p:blipFill>
        <p:spPr>
          <a:xfrm xmlns:a="http://schemas.openxmlformats.org/drawingml/2006/main">
            <a:off x="514350" y="2301844"/>
            <a:ext cx="5353050" cy="272103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CDE3C7-992F-4066-9F1F-19D2CC38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66875"/>
            <a:ext cx="5353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rPr>
              <a:t>LigandMPNN + Boltz-2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89534A-08FA-4052-B7B1-12F72AEB97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187a30548b49b1"/>
          <a:stretch xmlns:a="http://schemas.openxmlformats.org/drawingml/2006/main"/>
        </p:blipFill>
        <p:spPr>
          <a:xfrm xmlns:a="http://schemas.openxmlformats.org/drawingml/2006/main">
            <a:off x="6324600" y="2301844"/>
            <a:ext cx="5353050" cy="272103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9F5439-17C1-4261-BD7D-EBB02CC7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53050"/>
            <a:ext cx="535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Ligand pLDDT / score 上升，NLL 下降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78DB8-9D0D-4030-8174-6AC7D3FC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53050"/>
            <a:ext cx="535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两种模型都能随迭代改善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D4FA4B-771D-4A92-9A1A-F59484FBE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864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两组从同一 APEX 起点出发，但没有比较实验亲和力或命中率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CC9198-DA77-46B6-B430-CDB0413A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4840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rPr>
              <a:t>NISE 可以替换序列模型；这组结果还不能说明两者实验表现相同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885C18-A2F0-4057-AE82-FB585D6C5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88468788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406798-7CE0-49F0-876A-DA659D61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rPr>
              <a:t>用 RFAA 筛选，会错过这 5 个 Apixaban binder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309789-2171-4643-AC67-DFDB829D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1163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补充 Fig. 36：已经测到结合的设计，RFAA 能预测出设计姿态吗？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32A4E6-0205-420A-B9C2-4453133D70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abea7eeba14bf5"/>
          <a:stretch xmlns:a="http://schemas.openxmlformats.org/drawingml/2006/main"/>
        </p:blipFill>
        <p:spPr>
          <a:xfrm xmlns:a="http://schemas.openxmlformats.org/drawingml/2006/main">
            <a:off x="514350" y="1727809"/>
            <a:ext cx="7600950" cy="3735758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FF5451-9C53-4A30-954A-4E398004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714500"/>
            <a:ext cx="308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rPr>
              <a:t>骨架可以接近设计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684E44-9FA8-4258-AB02-5DBFC70B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24075"/>
            <a:ext cx="3086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rPr>
              <a:t>增加 recycles 后</a:t>
            </a:r>
          </a:p>
          <a:p xmlns:a="http://schemas.openxmlformats.org/drawingml/2006/main">
            <a:pPr>
              <a:def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rPr>
              <a:t>多数骨架预测更接近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C4F543-37A6-489E-8104-0CBE9714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05125"/>
            <a:ext cx="308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rPr>
              <a:t>配体朝向仍不同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B7A75C-A319-4946-8646-9AC46412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14700"/>
            <a:ext cx="3086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rPr>
              <a:t>配体重原子 RMSD 仍很大</a:t>
            </a:r>
          </a:p>
          <a:p xmlns:a="http://schemas.openxmlformats.org/drawingml/2006/main">
            <a:pPr>
              <a:def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rPr>
              <a:t>即使增加到 100 recycles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161E60-77BA-40BC-80C8-9C778532A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95750"/>
            <a:ext cx="308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rPr>
              <a:t>会被筛选淘汰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DDB10C-44E9-4ADA-8B41-0201956F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505325"/>
            <a:ext cx="3086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rPr>
              <a:t>5 个实验 binder</a:t>
            </a:r>
          </a:p>
          <a:p xmlns:a="http://schemas.openxmlformats.org/drawingml/2006/main">
            <a:pPr>
              <a:def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rPr>
              <a:t>不能通过 RFAA 的几何条件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E7B6A2-0BAB-4E54-929C-48E53220D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864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图中 RMSD 参考 Boltz-2 设计模型，而不是晶体结构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0EA7F2-A384-4424-A0E9-703C9BC6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4840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rPr>
              <a:t>选对复合物预测模型很重要；增加 recycles 不一定能解决问题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114024-8275-4728-9E7A-ED3500F5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9729202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82ECC4-9D32-4A1F-8180-BD9C4148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rPr>
              <a:t>好的起点、NISE 迭代和最终筛选，共同促成设计成功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90A020-3AF1-412C-81D7-0A753487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1163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作者的主要结论：让序列设计和复合物预测反复配合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DE4E96-E645-435E-A015-730134E6619F}"/>
              </a:ext>
            </a:extLst>
          </p:cNvPr>
          <p:cNvGraphicFramePr/>
          <p:nvPr/>
        </p:nvGraphicFramePr>
        <p:xfrm>
          <a:off xmlns:a="http://schemas.openxmlformats.org/drawingml/2006/main" x="514350" y="1685925"/>
          <a:ext xmlns:a="http://schemas.openxmlformats.org/drawingml/2006/main" cx="11163300" cy="27336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3886200"/>
                <a:gridCol w="5514975"/>
              </a:tblGrid>
              <a:tr h="683419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3B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我们看到什么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E2E6"/>
                      </a:solidFill>
                      <a:prstDash val="solid"/>
                    </a:lnL>
                    <a:lnR w="9525">
                      <a:solidFill>
                        <a:srgbClr val="DAE2E6"/>
                      </a:solidFill>
                      <a:prstDash val="solid"/>
                    </a:lnR>
                    <a:lnT w="9525">
                      <a:solidFill>
                        <a:srgbClr val="DAE2E6"/>
                      </a:solidFill>
                      <a:prstDash val="solid"/>
                    </a:lnT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3B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对应结果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2E6"/>
                      </a:solidFill>
                      <a:prstDash val="solid"/>
                    </a:lnR>
                    <a:lnT w="9525">
                      <a:solidFill>
                        <a:srgbClr val="DAE2E6"/>
                      </a:solidFill>
                      <a:prstDash val="solid"/>
                    </a:lnT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3B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怎么理解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2E6"/>
                      </a:solidFill>
                      <a:prstDash val="solid"/>
                    </a:lnR>
                    <a:lnT w="9525">
                      <a:solidFill>
                        <a:srgbClr val="DAE2E6"/>
                      </a:solidFill>
                      <a:prstDash val="solid"/>
                    </a:lnT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EDF3F5"/>
                    </a:solidFill>
                  </a:tcPr>
                </a:tc>
              </a:tr>
              <a:tr h="683419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序列模型能替换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E2E6"/>
                      </a:solidFill>
                      <a:prstDash val="solid"/>
                    </a:lnL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LigandMPNN 也能改善计算指标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NISE 不限于一种序列模型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3419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预测模型很重要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E2E6"/>
                      </a:solidFill>
                      <a:prstDash val="solid"/>
                    </a:lnL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RFAA 会淘汰 Apixaban binder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要能正确预测当前任务的复合物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3419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实验结果较好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E2E6"/>
                      </a:solidFill>
                      <a:prstDash val="solid"/>
                    </a:lnL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Exatecan 4/4，Apixaban 5/6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这是完整设计与筛选流程的结果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4594F0-76D3-4F3C-A553-3C47DF31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95825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rPr>
              <a:t>讨论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A92CF3-C972-45C9-8E81-917F3C8C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24450"/>
            <a:ext cx="11163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rPr>
              <a:t>如果计算量相同，只做一次大量采样会怎样？</a:t>
            </a:r>
          </a:p>
          <a:p xmlns:a="http://schemas.openxmlformats.org/drawingml/2006/main">
            <a:pPr>
              <a:defRPr sz="20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rPr>
              <a:t>我们能把 NISE 用在哪个设计任务上？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8C1ADC-EC1A-4DF8-A9D4-797222AA7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4840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rPr>
              <a:t>先找合理起点，再用预测结构重新设计，最后用实验验证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2F612E-AE87-4B1B-B12F-ED19BB74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38454498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7F32BD-EF88-41BE-8F4D-5BA90AB1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rPr>
              <a:t>self-consistency、pLDDT 和 Kd 衡量的是不同事情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7B639E-816D-473D-B17F-085A435D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1163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备用：预测是否符合设计、模型是否有信心、实验结合有多强？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792466-92B3-478D-9328-176D68F67E3D}"/>
              </a:ext>
            </a:extLst>
          </p:cNvPr>
          <p:cNvGraphicFramePr/>
          <p:nvPr/>
        </p:nvGraphicFramePr>
        <p:xfrm>
          <a:off xmlns:a="http://schemas.openxmlformats.org/drawingml/2006/main" x="514350" y="1685925"/>
          <a:ext xmlns:a="http://schemas.openxmlformats.org/drawingml/2006/main" cx="11163300" cy="3829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3857625"/>
                <a:gridCol w="5162550"/>
              </a:tblGrid>
              <a:tr h="6381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3B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E2E6"/>
                      </a:solidFill>
                      <a:prstDash val="solid"/>
                    </a:lnL>
                    <a:lnR w="9525">
                      <a:solidFill>
                        <a:srgbClr val="DAE2E6"/>
                      </a:solidFill>
                      <a:prstDash val="solid"/>
                    </a:lnR>
                    <a:lnT w="9525">
                      <a:solidFill>
                        <a:srgbClr val="DAE2E6"/>
                      </a:solidFill>
                      <a:prstDash val="solid"/>
                    </a:lnT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3B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它在问什么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2E6"/>
                      </a:solidFill>
                      <a:prstDash val="solid"/>
                    </a:lnR>
                    <a:lnT w="9525">
                      <a:solidFill>
                        <a:srgbClr val="DAE2E6"/>
                      </a:solidFill>
                      <a:prstDash val="solid"/>
                    </a:lnT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3B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怎样读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2E6"/>
                      </a:solidFill>
                      <a:prstDash val="solid"/>
                    </a:lnR>
                    <a:lnT w="9525">
                      <a:solidFill>
                        <a:srgbClr val="DAE2E6"/>
                      </a:solidFill>
                      <a:prstDash val="solid"/>
                    </a:lnT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EDF3F5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骨架 RMSD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E2E6"/>
                      </a:solidFill>
                      <a:prstDash val="solid"/>
                    </a:lnL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预测骨架接近输入骨架吗？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越低，骨架 self-consistency 越好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Ligand RMSD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E2E6"/>
                      </a:solidFill>
                      <a:prstDash val="solid"/>
                    </a:lnL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预测配体接近输入姿态吗？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越低，配体 self-consistency 越好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Ligand pLDDT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E2E6"/>
                      </a:solidFill>
                      <a:prstDash val="solid"/>
                    </a:lnL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模型对配体局部结构有多大信心？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越高越有信心；不是实验 Kd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P(bind)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E2E6"/>
                      </a:solidFill>
                      <a:prstDash val="solid"/>
                    </a:lnL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Boltz-2 认为它会结合吗？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是预测概率，不能直接当成 Kd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BUNs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E2E6"/>
                      </a:solidFill>
                      <a:prstDash val="solid"/>
                    </a:lnL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埋藏的极性原子有氢键吗？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越少通常越好；用于检查口袋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9D6107-F278-4D39-BF1B-2496F7BD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864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Apixaban 的配体 RMSD 阈值：初筛 2.0 Å，迭代 2.5 Å，最终 1.5 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2A5937-58F5-4A2C-B12B-971AC53C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4840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rPr>
              <a:t>先用 self-consistency 排除姿态偏离，再用置信度和口袋指标选择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21CA47-76F5-4049-8DD7-5B38D7A5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72671780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9CF9DD-0AC1-436C-A29F-547FCB5C3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rPr>
              <a:t>两个模型交替设计，更新的是序列和结构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EC85E1-63FB-4185-9F1A-870C462F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1163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备用：Fig. 1d 中的两个条件概率怎样理解？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762354-E96C-439C-9063-6DA438447E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e1bdba25d24530"/>
          <a:stretch xmlns:a="http://schemas.openxmlformats.org/drawingml/2006/main"/>
        </p:blipFill>
        <p:spPr>
          <a:xfrm xmlns:a="http://schemas.openxmlformats.org/drawingml/2006/main">
            <a:off x="741100" y="1581150"/>
            <a:ext cx="3670824" cy="40481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07E547-8AED-49D2-A170-CB795AACC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733550"/>
            <a:ext cx="636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rPr>
              <a:t>序列设计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97DF80-EF32-4C06-9D71-FB2FC23E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52650"/>
            <a:ext cx="6362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rPr>
              <a:t>P(seq | struct, lig)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258F4D-0A6F-4E90-A730-05ED578B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19425"/>
            <a:ext cx="636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rPr>
              <a:t>复合物预测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CD8C2A-7EB2-4137-9B25-ADC75EAD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438525"/>
            <a:ext cx="6362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rPr>
              <a:t>P(struct, lig | seq)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1E6860-1110-4D74-8424-75939C9C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391025"/>
            <a:ext cx="63627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rPr>
              <a:t>反复设计序列，再预测结构</a:t>
            </a:r>
          </a:p>
          <a:p xmlns:a="http://schemas.openxmlformats.org/drawingml/2006/main">
            <a:pPr>
              <a:defRPr sz="187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rPr>
              <a:t>更新序列和坐标，模型权重不变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C588FC-AC2C-4CF5-B390-CEAEED52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864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NLL 是序列模型给出的分数；pLDDT 用来帮助选择预测结构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2E00B5-5A88-4624-9F59-EFBB04B8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4840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rPr>
              <a:t>NISE 反复更新候选序列和坐标，两个模型的权重保持不变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23ABDE-ED41-49F8-B431-9A241F31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79311044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AB6800-10C9-41C4-9052-4984DAD5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rPr>
              <a:t>4/4 和 5/6 指送去实验的设计，不是全部计算样本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EDFBD9-4C9E-48DD-9A9D-8B7F7CD2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1163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备用：怎样读成功率、Kd 和置信区间？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06E163-FB83-4D60-B590-D497C39CB68F}"/>
              </a:ext>
            </a:extLst>
          </p:cNvPr>
          <p:cNvGraphicFramePr/>
          <p:nvPr/>
        </p:nvGraphicFramePr>
        <p:xfrm>
          <a:off xmlns:a="http://schemas.openxmlformats.org/drawingml/2006/main" x="514350" y="1685925"/>
          <a:ext xmlns:a="http://schemas.openxmlformats.org/drawingml/2006/main" cx="11163300" cy="3829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3857625"/>
                <a:gridCol w="5162550"/>
              </a:tblGrid>
              <a:tr h="6381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3B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E2E6"/>
                      </a:solidFill>
                      <a:prstDash val="solid"/>
                    </a:lnL>
                    <a:lnR w="9525">
                      <a:solidFill>
                        <a:srgbClr val="DAE2E6"/>
                      </a:solidFill>
                      <a:prstDash val="solid"/>
                    </a:lnR>
                    <a:lnT w="9525">
                      <a:solidFill>
                        <a:srgbClr val="DAE2E6"/>
                      </a:solidFill>
                      <a:prstDash val="solid"/>
                    </a:lnT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3B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实际测了什么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2E6"/>
                      </a:solidFill>
                      <a:prstDash val="solid"/>
                    </a:lnR>
                    <a:lnT w="9525">
                      <a:solidFill>
                        <a:srgbClr val="DAE2E6"/>
                      </a:solidFill>
                      <a:prstDash val="solid"/>
                    </a:lnT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3B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数值或条件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2E6"/>
                      </a:solidFill>
                      <a:prstDash val="solid"/>
                    </a:lnR>
                    <a:lnT w="9525">
                      <a:solidFill>
                        <a:srgbClr val="DAE2E6"/>
                      </a:solidFill>
                      <a:prstDash val="solid"/>
                    </a:lnT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EDF3F5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Exatecan：4/4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E2E6"/>
                      </a:solidFill>
                      <a:prstDash val="solid"/>
                    </a:lnL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个最终设计都结合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Kd 为 0.12–17 µM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传统设计：3/16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E2E6"/>
                      </a:solidFill>
                      <a:prstDash val="solid"/>
                    </a:lnL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 个设计中有 3 个单体 binder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最佳 Kd 约 8 µM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Apixaban：5/6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E2E6"/>
                      </a:solidFill>
                      <a:prstDash val="solid"/>
                    </a:lnL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个最终设计中有 5 个结合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原药 Kd 为 80 pM–54 nM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APEX：990 pM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E2E6"/>
                      </a:solidFill>
                      <a:prstDash val="solid"/>
                    </a:lnL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带 FITC 标签的 Apixaban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荧光探针，不是未标记药物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APEX：80 pM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E2E6"/>
                      </a:solidFill>
                      <a:prstDash val="solid"/>
                    </a:lnL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未标记 Apixaban 的竞争结合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95% CI：54–122 pM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730112-49DB-42B4-A12D-92F8DCAB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864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传统设计的 3/16 不包括后来追加的 CR5 和 CR6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86AC08-F6D4-4699-85F5-89E2F5A7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4840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rPr>
              <a:t>比较亲和力前，先确认测量的是哪个配体、用了什么拟合方法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59DEEA-9855-4958-A9A4-A9661C43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23719579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310B04-3F68-4CD0-B44B-1CE714E0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rPr>
              <a:t>14 轮 NISE 约需 5 小时，主要时间用于结构预测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16D0E3-56BA-4605-ABF5-40790135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1163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备用：代码在哪里？实际运行还需要哪些准备？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00A96F-AAFD-4E9D-B275-1586B712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11163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rPr>
              <a:t>1. 序列设计与 neural proofreading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3A659D-074D-4960-A8B7-B86EEEA8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95525"/>
            <a:ext cx="11163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rPr>
              <a:t>github.com/polizzilab/LASErMPNN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A4CFE2-4199-453D-9276-EB44604E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28950"/>
            <a:ext cx="11163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rPr>
              <a:t>2. NISE 流程与 Colab 示例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AEDE50-C6E0-4B63-8C85-BD42A598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14725"/>
            <a:ext cx="11163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rPr>
              <a:t>github.com/polizzilab/NISE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23BF5A-4FD6-4B5F-9AC6-8AE73212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48150"/>
            <a:ext cx="11163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rPr>
              <a:t>3. 初始配体刚体对接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282204-F11D-402F-AB4E-C71BCEEC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3925"/>
            <a:ext cx="11163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2B35"/>
                </a:solidFill>
                <a:latin typeface="Microsoft YaHei"/>
                <a:ea typeface="Microsoft YaHei"/>
                <a:cs typeface="Microsoft YaHei"/>
              </a:rPr>
              <a:t>github.com/benf549/CARPdock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0AFE25-F3AA-4978-B056-C6931A3D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864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作者使用 4 张 A6000；5 h 不包括准备骨架、初筛和最终筛选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2287A5-6ABC-45F7-AC99-EAF3AF50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4840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rPr>
              <a:t>先检查预测模型能否处理目标药物和骨架，再运行完整设计流程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A9DB54-FCD7-4799-A2DE-4DC07AC0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13582994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E6AE5D-B2AA-4C5E-80A6-2079522F7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rPr>
              <a:t>亲和力最强的 EPIC，ligand pLDDT 并不是最高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565F0A-3946-4716-8837-413A8D99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1163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备用：补充 Table 5 把计算指标与实验 Kd 放在一起比较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BD5442-4614-4C04-A77D-BDFDFFFF52E8}"/>
              </a:ext>
            </a:extLst>
          </p:cNvPr>
          <p:cNvGraphicFramePr/>
          <p:nvPr/>
        </p:nvGraphicFramePr>
        <p:xfrm>
          <a:off xmlns:a="http://schemas.openxmlformats.org/drawingml/2006/main" x="514350" y="1685925"/>
          <a:ext xmlns:a="http://schemas.openxmlformats.org/drawingml/2006/main" cx="111633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3857625"/>
                <a:gridCol w="5162550"/>
              </a:tblGrid>
              <a:tr h="72771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3B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E2E6"/>
                      </a:solidFill>
                      <a:prstDash val="solid"/>
                    </a:lnL>
                    <a:lnR w="9525">
                      <a:solidFill>
                        <a:srgbClr val="DAE2E6"/>
                      </a:solidFill>
                      <a:prstDash val="solid"/>
                    </a:lnR>
                    <a:lnT w="9525">
                      <a:solidFill>
                        <a:srgbClr val="DAE2E6"/>
                      </a:solidFill>
                      <a:prstDash val="solid"/>
                    </a:lnT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3B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配体 pLDDT / 配体 BUNs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2E6"/>
                      </a:solidFill>
                      <a:prstDash val="solid"/>
                    </a:lnR>
                    <a:lnT w="9525">
                      <a:solidFill>
                        <a:srgbClr val="DAE2E6"/>
                      </a:solidFill>
                      <a:prstDash val="solid"/>
                    </a:lnT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3B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BUNs 总分 / Kd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2E6"/>
                      </a:solidFill>
                      <a:prstDash val="solid"/>
                    </a:lnR>
                    <a:lnT w="9525">
                      <a:solidFill>
                        <a:srgbClr val="DAE2E6"/>
                      </a:solidFill>
                      <a:prstDash val="solid"/>
                    </a:lnT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EDF3F5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NISE2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E2E6"/>
                      </a:solidFill>
                      <a:prstDash val="solid"/>
                    </a:lnL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0.908 / 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 / 9.7 µM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NISE3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E2E6"/>
                      </a:solidFill>
                      <a:prstDash val="solid"/>
                    </a:lnL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0.929 / 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 / 3.2 µM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NISE4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E2E6"/>
                      </a:solidFill>
                      <a:prstDash val="solid"/>
                    </a:lnL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0.859 / 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 / 16.8 µM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EPIC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E2E6"/>
                      </a:solidFill>
                      <a:prstDash val="solid"/>
                    </a:lnL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0.911 / 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 / 0.12 µM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5C03D9-63CF-4BCA-A5E8-F316A2A8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864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数据按补充 Table 5 记录；BUNs 总分包括配体和蛋白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15EF4A-6EBB-4EAD-8D77-6959F475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4840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rPr>
              <a:t>模型置信度不能代替亲和力实验，也不能代替整个口袋的检查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9C0168-E90F-49C3-8B73-3FE36113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54291383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8DCF42-EC80-4401-A104-277B1B6A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rPr>
              <a:t>相同初始配体姿态下，NISE 设计的亲和力更高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DB1A6D-3DFE-4A25-9F7C-2BD58260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1163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备用：改进是否只是因为选到了一个更好的初始对接姿态？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B4C3C8-6D04-4D8A-A036-18698977D305}"/>
              </a:ext>
            </a:extLst>
          </p:cNvPr>
          <p:cNvGraphicFramePr/>
          <p:nvPr/>
        </p:nvGraphicFramePr>
        <p:xfrm>
          <a:off xmlns:a="http://schemas.openxmlformats.org/drawingml/2006/main" x="514350" y="1685925"/>
          <a:ext xmlns:a="http://schemas.openxmlformats.org/drawingml/2006/main" cx="111633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3857625"/>
                <a:gridCol w="5162550"/>
              </a:tblGrid>
              <a:tr h="72771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3B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E2E6"/>
                      </a:solidFill>
                      <a:prstDash val="solid"/>
                    </a:lnL>
                    <a:lnR w="9525">
                      <a:solidFill>
                        <a:srgbClr val="DAE2E6"/>
                      </a:solidFill>
                      <a:prstDash val="solid"/>
                    </a:lnR>
                    <a:lnT w="9525">
                      <a:solidFill>
                        <a:srgbClr val="DAE2E6"/>
                      </a:solidFill>
                      <a:prstDash val="solid"/>
                    </a:lnT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3B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 NISE 起点的关系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2E6"/>
                      </a:solidFill>
                      <a:prstDash val="solid"/>
                    </a:lnR>
                    <a:lnT w="9525">
                      <a:solidFill>
                        <a:srgbClr val="DAE2E6"/>
                      </a:solidFill>
                      <a:prstDash val="solid"/>
                    </a:lnT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3B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Exatecan Kd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2E6"/>
                      </a:solidFill>
                      <a:prstDash val="solid"/>
                    </a:lnR>
                    <a:lnT w="9525">
                      <a:solidFill>
                        <a:srgbClr val="DAE2E6"/>
                      </a:solidFill>
                      <a:prstDash val="solid"/>
                    </a:lnT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EDF3F5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E2E6"/>
                      </a:solidFill>
                      <a:prstDash val="solid"/>
                    </a:lnL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NISE 起点；实验发现聚集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不能可靠拟合单一位点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E2E6"/>
                      </a:solidFill>
                      <a:prstDash val="solid"/>
                    </a:lnL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相同配体姿态的传统设计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 8 µM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CR5 / CR6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E2E6"/>
                      </a:solidFill>
                      <a:prstDash val="solid"/>
                    </a:lnL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后来追加的同姿态传统设计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 15 / 43 µM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EPIC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E2E6"/>
                      </a:solidFill>
                      <a:prstDash val="solid"/>
                    </a:lnL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NISE 反复调整后的设计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0.12 µM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2E6"/>
                      </a:solidFill>
                      <a:prstDash val="solid"/>
                    </a:lnR>
                    <a:lnB w="9525">
                      <a:solidFill>
                        <a:srgbClr val="DA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AF875E-B322-4373-85EE-DF7DC5D9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864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CR5 和 CR6 是 4 个 NISE 设计测到结合后追加的对照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E24B3A-DA19-4D41-83D5-3475AE08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4840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rPr>
              <a:t>作者认为，提高亲和力来自一起优化序列、骨架和配体，而不只选姿态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627F78-0344-4143-9280-67FB929D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63350245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952145-9914-43DF-BC12-FB015048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rPr>
              <a:t>已知高亲和力 PiB，在筛选后的设计中排名第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247892-3928-4BCF-BBF6-DF91ACCE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1163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备用：Fig. 2d 用一个已知 binder 检查筛选和排序是否合理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DB8B9F-A133-4139-9B1A-219D3305C5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929408adce42f8"/>
          <a:stretch xmlns:a="http://schemas.openxmlformats.org/drawingml/2006/main"/>
        </p:blipFill>
        <p:spPr>
          <a:xfrm xmlns:a="http://schemas.openxmlformats.org/drawingml/2006/main">
            <a:off x="514350" y="2324267"/>
            <a:ext cx="11163300" cy="230471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464774-4386-487E-A2E0-328F916D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34025"/>
            <a:ext cx="360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rPr>
              <a:t>保留 PiB 骨架和 Rucaparib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9EDC57-43B9-4FB8-B53A-6313D93A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450" y="5534025"/>
            <a:ext cx="360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rPr>
              <a:t>设计 1,000 条新序列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63871E-1F57-4257-94E5-DFDD8D5A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550" y="5534025"/>
            <a:ext cx="360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47D89"/>
                </a:solidFill>
                <a:latin typeface="Microsoft YaHei"/>
                <a:ea typeface="Microsoft YaHei"/>
                <a:cs typeface="Microsoft YaHei"/>
              </a:rPr>
              <a:t>把 PiB 原序列也放进来排序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06929E-422C-4DE3-A37D-BBC7699C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864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检查 self-consistency 和 pLDDT 后，对 211 个候选按 BUNs 排序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DE2CF8-BDEA-49F2-8BCE-D14CA941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4840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B51"/>
                </a:solidFill>
                <a:latin typeface="Microsoft YaHei"/>
                <a:ea typeface="Microsoft YaHei"/>
                <a:cs typeface="Microsoft YaHei"/>
              </a:rPr>
              <a:t>筛选能优先保留已知 binder；新设计的亲和力没有在这里测量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E10C64-EAAE-475B-B6F5-9D3C683F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580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9125104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2026-10-13T06:18:27.7900000Z</dcterms:created>
  <dcterms:modified xsi:type="dcterms:W3CDTF">2026-10-13T06:18:27.7900000Z</dcterms:modified>
</coreProperties>
</file>